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820" r:id="rId2"/>
    <p:sldId id="2857" r:id="rId3"/>
    <p:sldId id="256" r:id="rId4"/>
    <p:sldId id="2858" r:id="rId5"/>
    <p:sldId id="2859" r:id="rId6"/>
    <p:sldId id="2860" r:id="rId7"/>
    <p:sldId id="2861" r:id="rId8"/>
    <p:sldId id="257" r:id="rId9"/>
    <p:sldId id="258" r:id="rId10"/>
    <p:sldId id="2862" r:id="rId11"/>
    <p:sldId id="2863" r:id="rId12"/>
    <p:sldId id="2864" r:id="rId13"/>
    <p:sldId id="2865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" dt="2026-08-30T17:37:45.525"/>
    <p1510:client id="{367D1A31-C9C2-743F-9A09-B71677AE754A}" v="9" dt="2026-08-30T17:25:30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Earlier</c:v>
                </c:pt>
              </c:strCache>
            </c:strRef>
          </c:tx>
          <c:spPr>
            <a:solidFill>
              <a:srgbClr val="EDE4F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0" i="0" u="none" strike="noStrike" kern="1200" baseline="0">
                    <a:solidFill>
                      <a:srgbClr val="1F1235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Customer-Facing</c:v>
                </c:pt>
                <c:pt idx="1">
                  <c:v>Internal Employee</c:v>
                </c:pt>
                <c:pt idx="2">
                  <c:v>Regulated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</c:v>
                </c:pt>
                <c:pt idx="1">
                  <c:v>19</c:v>
                </c:pt>
                <c:pt idx="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8A-4BD7-BAAC-65CE50D5A4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Now</c:v>
                </c:pt>
              </c:strCache>
            </c:strRef>
          </c:tx>
          <c:spPr>
            <a:solidFill>
              <a:srgbClr val="5B21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0" i="0" u="none" strike="noStrike" kern="1200" baseline="0">
                    <a:solidFill>
                      <a:srgbClr val="1F1235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Customer-Facing</c:v>
                </c:pt>
                <c:pt idx="1">
                  <c:v>Internal Employee</c:v>
                </c:pt>
                <c:pt idx="2">
                  <c:v>Regulated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30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8A-4BD7-BAAC-65CE50D5A4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fc2713a-316c-468d-a600-fe8d04a50be2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Trust</c:v>
                </c:pt>
              </c:strCache>
            </c:strRef>
          </c:tx>
          <c:spPr>
            <a:solidFill>
              <a:srgbClr val="5B21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50" b="0" i="0" u="none" strike="noStrike" kern="1200" baseline="0">
                    <a:solidFill>
                      <a:srgbClr val="1F1235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Inbuilt / Vetted</c:v>
                </c:pt>
                <c:pt idx="1">
                  <c:v>Standalone / General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FD-495D-8BEE-A5843A8750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6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448f572-9803-4e59-b2d9-3bdf6d5e8357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BB72A-8426-46A3-96AF-A64613744BE6}" type="datetimeFigureOut"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2E68A-1FD8-423F-B4AF-A2FE56894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0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400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69568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2201243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078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0150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chart" Target="../charts/chart2.xml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8.png"/><Relationship Id="rId3" Type="http://schemas.openxmlformats.org/officeDocument/2006/relationships/image" Target="../media/image21.png"/><Relationship Id="rId7" Type="http://schemas.openxmlformats.org/officeDocument/2006/relationships/image" Target="../media/image13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11" Type="http://schemas.openxmlformats.org/officeDocument/2006/relationships/image" Target="../media/image17.png"/><Relationship Id="rId5" Type="http://schemas.openxmlformats.org/officeDocument/2006/relationships/image" Target="../media/image22.png"/><Relationship Id="rId1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16.png"/><Relationship Id="rId9" Type="http://schemas.openxmlformats.org/officeDocument/2006/relationships/image" Target="../media/image25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31.png"/><Relationship Id="rId15" Type="http://schemas.openxmlformats.org/officeDocument/2006/relationships/image" Target="../media/image38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2.png"/><Relationship Id="rId5" Type="http://schemas.openxmlformats.org/officeDocument/2006/relationships/image" Target="../media/image51.png"/><Relationship Id="rId10" Type="http://schemas.openxmlformats.org/officeDocument/2006/relationships/image" Target="../media/image38.png"/><Relationship Id="rId4" Type="http://schemas.openxmlformats.org/officeDocument/2006/relationships/image" Target="../media/image50.png"/><Relationship Id="rId9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/>
              <a:t>Team details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2500">
                <a:latin typeface="Graphik"/>
              </a:rPr>
              <a:t>Nishika</a:t>
            </a:r>
            <a:r>
              <a:rPr kumimoji="0" lang="en-GB" sz="25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lang="en-GB" sz="2500">
                <a:latin typeface="Graphik"/>
              </a:rPr>
              <a:t>Haware </a:t>
            </a:r>
            <a:r>
              <a:rPr kumimoji="0" lang="en-GB" sz="2500" b="1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(Team Leader)</a:t>
            </a:r>
            <a:endParaRPr lang="en-GB" sz="2500" b="1" i="0" u="none" strike="noStrike" kern="1200" cap="none" spc="0" normalizeH="0" baseline="0" noProof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5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Graphik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553085" y="4359924"/>
            <a:ext cx="3343171" cy="404065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2500"/>
              <a:t>Himanshi Srivastava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553085" y="4809551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55205" y="2098914"/>
            <a:ext cx="2752529" cy="84247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2500">
                <a:latin typeface="Graphik"/>
              </a:rPr>
              <a:t>Komal </a:t>
            </a:r>
            <a:r>
              <a:rPr lang="en-GB" sz="2500" err="1">
                <a:latin typeface="Graphik"/>
              </a:rPr>
              <a:t>Baraskar</a:t>
            </a:r>
            <a:endParaRPr lang="en-GB" sz="2500" b="1" i="0" u="none" strike="noStrike" kern="1200" cap="none" spc="0" normalizeH="0" baseline="0" noProof="0" err="1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/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A100FF"/>
                          </a:solidFill>
                        </a:rPr>
                        <a:t>TEAM NAME: </a:t>
                      </a:r>
                      <a:r>
                        <a:rPr lang="en-US" sz="1400" err="1">
                          <a:solidFill>
                            <a:srgbClr val="A100FF"/>
                          </a:solidFill>
                        </a:rPr>
                        <a:t>Accen</a:t>
                      </a:r>
                      <a:r>
                        <a:rPr lang="en-US" sz="1400">
                          <a:solidFill>
                            <a:srgbClr val="A100FF"/>
                          </a:solidFill>
                        </a:rPr>
                        <a:t>-Sure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  <a:r>
              <a:rPr lang="en-US" sz="1200">
                <a:solidFill>
                  <a:srgbClr val="000000"/>
                </a:solidFill>
                <a:latin typeface="Graphik"/>
              </a:rPr>
              <a:t> IIT (ISM) Dhanbad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  <a:r>
              <a:rPr lang="en-US" sz="1200">
                <a:solidFill>
                  <a:srgbClr val="000000"/>
                </a:solidFill>
                <a:latin typeface="Graphik"/>
              </a:rPr>
              <a:t> Electronics and Communication Engineering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  <a:p>
            <a:pPr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  <a:r>
              <a:rPr lang="en-US" sz="1200">
                <a:solidFill>
                  <a:srgbClr val="000000"/>
                </a:solidFill>
                <a:latin typeface="Graphik"/>
              </a:rPr>
              <a:t> 2028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006401"/>
            <a:ext cx="2762684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  <a:r>
              <a:rPr lang="en-US" sz="1200">
                <a:solidFill>
                  <a:srgbClr val="000000"/>
                </a:solidFill>
                <a:latin typeface="Graphik"/>
              </a:rPr>
              <a:t> 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IIT (ISM) Dhanbad</a:t>
            </a:r>
          </a:p>
          <a:p>
            <a:pPr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  <a:r>
              <a:rPr lang="en-US" sz="1200">
                <a:solidFill>
                  <a:srgbClr val="000000"/>
                </a:solidFill>
                <a:latin typeface="Graphik"/>
              </a:rPr>
              <a:t> 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Electronics and Communication Engineering</a:t>
            </a:r>
          </a:p>
          <a:p>
            <a:pPr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 2028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  <a:r>
              <a:rPr lang="en-US" sz="1200">
                <a:solidFill>
                  <a:srgbClr val="000000"/>
                </a:solidFill>
                <a:latin typeface="Graphik"/>
              </a:rPr>
              <a:t> 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IIT (ISM) Dhanbad</a:t>
            </a:r>
          </a:p>
          <a:p>
            <a:pPr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  <a:r>
              <a:rPr lang="en-US" sz="1200">
                <a:solidFill>
                  <a:srgbClr val="000000"/>
                </a:solidFill>
                <a:latin typeface="Graphik"/>
              </a:rPr>
              <a:t> Mechanical Engineering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  <a:p>
            <a:pPr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 2028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D6C4C-5C01-3019-3B7B-EAD12574D9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92" t="10983" r="11650" b="38328"/>
          <a:stretch>
            <a:fillRect/>
          </a:stretch>
        </p:blipFill>
        <p:spPr>
          <a:xfrm>
            <a:off x="708304" y="1995194"/>
            <a:ext cx="1611779" cy="19762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6579F7-CBE8-02A7-7737-11474F8AD1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68" r="-658" b="-603"/>
          <a:stretch>
            <a:fillRect/>
          </a:stretch>
        </p:blipFill>
        <p:spPr>
          <a:xfrm>
            <a:off x="7388035" y="2209799"/>
            <a:ext cx="1606512" cy="1866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1DC0E7-8C74-BB47-2440-C0F8CF6C14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89" t="20071" r="1089" b="15646"/>
          <a:stretch>
            <a:fillRect/>
          </a:stretch>
        </p:blipFill>
        <p:spPr>
          <a:xfrm>
            <a:off x="712200" y="4455555"/>
            <a:ext cx="1622984" cy="191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11111"/>
          </a:solidFill>
        </p:spPr>
      </p:sp>
      <p:sp>
        <p:nvSpPr>
          <p:cNvPr id="3" name="Text 1"/>
          <p:cNvSpPr txBox="1"/>
          <p:nvPr/>
        </p:nvSpPr>
        <p:spPr>
          <a:xfrm>
            <a:off x="320040" y="29260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29260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</a:t>
            </a:r>
            <a:endParaRPr lang="en-US" sz="115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STATEMENT: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29000" y="274320"/>
            <a:ext cx="8439912" cy="822960"/>
          </a:xfrm>
          <a:prstGeom prst="roundRect">
            <a:avLst>
              <a:gd name="adj" fmla="val 6667"/>
            </a:avLst>
          </a:prstGeom>
          <a:solidFill>
            <a:srgbClr val="7C3AED"/>
          </a:solidFill>
        </p:spPr>
      </p:sp>
      <p:sp>
        <p:nvSpPr>
          <p:cNvPr id="6" name="Text 4"/>
          <p:cNvSpPr txBox="1"/>
          <p:nvPr/>
        </p:nvSpPr>
        <p:spPr>
          <a:xfrm>
            <a:off x="3611880" y="310896"/>
            <a:ext cx="8092440" cy="74980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3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AI deployment carries the same risk: it can be confidently wrong, quietly expensive, or subtly biased — usually discovered only after a user has already acted on it. ControlPlane.ai is a technology layer that continuously observes every AI response in real time across three dimensions: performance, cost, and responsibility. Built to sit on top of any model, it turns AI oversight from an after-the-fact discovery into something you can watch, catch, and act on live.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320040" y="1225296"/>
            <a:ext cx="420624" cy="420624"/>
          </a:xfrm>
          <a:prstGeom prst="ellipse">
            <a:avLst/>
          </a:prstGeom>
          <a:solidFill>
            <a:srgbClr val="5B21B6"/>
          </a:solidFill>
        </p:spPr>
      </p:sp>
      <p:sp>
        <p:nvSpPr>
          <p:cNvPr id="8" name="Text 6"/>
          <p:cNvSpPr txBox="1"/>
          <p:nvPr/>
        </p:nvSpPr>
        <p:spPr>
          <a:xfrm>
            <a:off x="320040" y="12252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0392" y="1243584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DE4FB"/>
          </a:solidFill>
        </p:spPr>
      </p:sp>
      <p:sp>
        <p:nvSpPr>
          <p:cNvPr id="10" name="Text 8"/>
          <p:cNvSpPr txBox="1"/>
          <p:nvPr/>
        </p:nvSpPr>
        <p:spPr>
          <a:xfrm>
            <a:off x="850392" y="124358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21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and Key Findings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3639312" cy="4645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975104"/>
            <a:ext cx="2084832" cy="256032"/>
          </a:xfrm>
          <a:prstGeom prst="roundRect">
            <a:avLst>
              <a:gd name="adj" fmla="val 50000"/>
            </a:avLst>
          </a:prstGeom>
          <a:solidFill>
            <a:srgbClr val="5B21B6"/>
          </a:solidFill>
        </p:spPr>
      </p:sp>
      <p:sp>
        <p:nvSpPr>
          <p:cNvPr id="13" name="Text 11"/>
          <p:cNvSpPr txBox="1"/>
          <p:nvPr/>
        </p:nvSpPr>
        <p:spPr>
          <a:xfrm>
            <a:off x="1097280" y="1975104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 RESEARCH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1066800" cy="219456"/>
          </a:xfrm>
          <a:prstGeom prst="roundRect">
            <a:avLst>
              <a:gd name="adj" fmla="val 20833"/>
            </a:avLst>
          </a:prstGeom>
          <a:solidFill>
            <a:srgbClr val="5B21B6"/>
          </a:solidFill>
        </p:spPr>
      </p:sp>
      <p:sp>
        <p:nvSpPr>
          <p:cNvPr id="15" name="Text 13"/>
          <p:cNvSpPr txBox="1"/>
          <p:nvPr/>
        </p:nvSpPr>
        <p:spPr>
          <a:xfrm>
            <a:off x="457200" y="2340864"/>
            <a:ext cx="1066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Surveys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1066800" cy="987552"/>
          </a:xfrm>
          <a:prstGeom prst="roundRect">
            <a:avLst>
              <a:gd name="adj" fmla="val 5556"/>
            </a:avLst>
          </a:prstGeom>
          <a:solidFill>
            <a:srgbClr val="F5F0FC"/>
          </a:solidFill>
          <a:ln w="9525">
            <a:solidFill>
              <a:srgbClr val="EDE4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633472"/>
            <a:ext cx="1066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21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999232"/>
            <a:ext cx="97536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3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68% flagged hallucinated / inaccurate outputs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1606296" y="2340864"/>
            <a:ext cx="1066800" cy="219456"/>
          </a:xfrm>
          <a:prstGeom prst="roundRect">
            <a:avLst>
              <a:gd name="adj" fmla="val 20833"/>
            </a:avLst>
          </a:prstGeom>
          <a:solidFill>
            <a:srgbClr val="5B21B6"/>
          </a:solidFill>
        </p:spPr>
      </p:sp>
      <p:sp>
        <p:nvSpPr>
          <p:cNvPr id="20" name="Text 18"/>
          <p:cNvSpPr txBox="1"/>
          <p:nvPr/>
        </p:nvSpPr>
        <p:spPr>
          <a:xfrm>
            <a:off x="1606296" y="2340864"/>
            <a:ext cx="1066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Interviews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1606296" y="2596896"/>
            <a:ext cx="1066800" cy="987552"/>
          </a:xfrm>
          <a:prstGeom prst="roundRect">
            <a:avLst>
              <a:gd name="adj" fmla="val 5556"/>
            </a:avLst>
          </a:prstGeom>
          <a:solidFill>
            <a:srgbClr val="F5F0FC"/>
          </a:solidFill>
          <a:ln w="9525">
            <a:solidFill>
              <a:srgbClr val="EDE4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06296" y="2633472"/>
            <a:ext cx="1066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21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652016" y="2999232"/>
            <a:ext cx="97536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3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Wrong citations went undetected until graded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2755392" y="2340864"/>
            <a:ext cx="1066800" cy="219456"/>
          </a:xfrm>
          <a:prstGeom prst="roundRect">
            <a:avLst>
              <a:gd name="adj" fmla="val 20833"/>
            </a:avLst>
          </a:prstGeom>
          <a:solidFill>
            <a:srgbClr val="5B21B6"/>
          </a:solidFill>
        </p:spPr>
      </p:sp>
      <p:sp>
        <p:nvSpPr>
          <p:cNvPr id="25" name="Text 23"/>
          <p:cNvSpPr txBox="1"/>
          <p:nvPr/>
        </p:nvSpPr>
        <p:spPr>
          <a:xfrm>
            <a:off x="2755392" y="2340864"/>
            <a:ext cx="1066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Employee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Interviews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2755392" y="2596896"/>
            <a:ext cx="1066800" cy="987552"/>
          </a:xfrm>
          <a:prstGeom prst="roundRect">
            <a:avLst>
              <a:gd name="adj" fmla="val 5556"/>
            </a:avLst>
          </a:prstGeom>
          <a:solidFill>
            <a:srgbClr val="F5F0FC"/>
          </a:solidFill>
          <a:ln w="9525">
            <a:solidFill>
              <a:srgbClr val="EDE4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55392" y="2633472"/>
            <a:ext cx="1066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21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2801112" y="2999232"/>
            <a:ext cx="97536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3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Avoid AI for compliance-adjacent decisions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3364992" cy="0"/>
          </a:xfrm>
          <a:prstGeom prst="line">
            <a:avLst/>
          </a:prstGeom>
          <a:noFill/>
          <a:ln w="12700">
            <a:solidFill>
              <a:srgbClr val="D8D3E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78408" y="3767328"/>
            <a:ext cx="2322576" cy="256032"/>
          </a:xfrm>
          <a:prstGeom prst="roundRect">
            <a:avLst>
              <a:gd name="adj" fmla="val 50000"/>
            </a:avLst>
          </a:prstGeom>
          <a:solidFill>
            <a:srgbClr val="5B21B6"/>
          </a:solidFill>
        </p:spPr>
      </p:sp>
      <p:sp>
        <p:nvSpPr>
          <p:cNvPr id="31" name="Text 29"/>
          <p:cNvSpPr txBox="1"/>
          <p:nvPr/>
        </p:nvSpPr>
        <p:spPr>
          <a:xfrm>
            <a:off x="978408" y="3767328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PUBLIC RESOURCES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" y="4114800"/>
            <a:ext cx="3310128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83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Adoption vs. real use: 86–91% “adopted” AI, only 10–15% use it daily</a:t>
            </a:r>
            <a:endParaRPr lang="en-US" sz="83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83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in AI accuracy stuck at 29–34% across all use cases</a:t>
            </a:r>
            <a:endParaRPr lang="en-US" sz="83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83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Override rate: 74% under low transparency vs. 49% under high transparency</a:t>
            </a:r>
            <a:endParaRPr lang="en-US" sz="83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83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#1 frustration everywhere: “almost right” outputs</a:t>
            </a:r>
            <a:endParaRPr lang="en-US" sz="83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83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Regulated AI is most cautious — trust is earned per-tool, not by default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457200" y="5989320"/>
            <a:ext cx="3364992" cy="374904"/>
          </a:xfrm>
          <a:prstGeom prst="roundRect">
            <a:avLst>
              <a:gd name="adj" fmla="val 14634"/>
            </a:avLst>
          </a:prstGeom>
          <a:solidFill>
            <a:srgbClr val="F5F0FC"/>
          </a:solidFill>
          <a:ln w="9525">
            <a:solidFill>
              <a:srgbClr val="EDE4F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2648" y="6080760"/>
            <a:ext cx="3054096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00" b="1" i="1" dirty="0">
                <a:solidFill>
                  <a:srgbClr val="5B21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“I stopped trusting it after it gave me a citation that didn’t exist.”</a:t>
            </a:r>
            <a:endParaRPr lang="en-US" sz="9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73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Student Interviewee, Round 1 Research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33672" y="1225296"/>
            <a:ext cx="420624" cy="420624"/>
          </a:xfrm>
          <a:prstGeom prst="ellipse">
            <a:avLst/>
          </a:prstGeom>
          <a:solidFill>
            <a:srgbClr val="5B21B6"/>
          </a:solidFill>
        </p:spPr>
      </p:sp>
      <p:sp>
        <p:nvSpPr>
          <p:cNvPr id="36" name="Text 34"/>
          <p:cNvSpPr txBox="1"/>
          <p:nvPr/>
        </p:nvSpPr>
        <p:spPr>
          <a:xfrm>
            <a:off x="4233672" y="12252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764024" y="1243584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DE4FB"/>
          </a:solidFill>
        </p:spPr>
      </p:sp>
      <p:sp>
        <p:nvSpPr>
          <p:cNvPr id="38" name="Text 36"/>
          <p:cNvSpPr txBox="1"/>
          <p:nvPr/>
        </p:nvSpPr>
        <p:spPr>
          <a:xfrm>
            <a:off x="4764024" y="124358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21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Hypothesis Tested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233672" y="1847088"/>
            <a:ext cx="3639312" cy="4645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70832" y="1993392"/>
            <a:ext cx="3364992" cy="886968"/>
          </a:xfrm>
          <a:prstGeom prst="roundRect">
            <a:avLst>
              <a:gd name="adj" fmla="val 7216"/>
            </a:avLst>
          </a:prstGeom>
          <a:solidFill>
            <a:srgbClr val="F5F0FC"/>
          </a:solidFill>
          <a:ln w="9525">
            <a:solidFill>
              <a:srgbClr val="EDE4F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210312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5B21B6"/>
          </a:solidFill>
        </p:spPr>
      </p:sp>
      <p:sp>
        <p:nvSpPr>
          <p:cNvPr id="42" name="Text 40"/>
          <p:cNvSpPr txBox="1"/>
          <p:nvPr/>
        </p:nvSpPr>
        <p:spPr>
          <a:xfrm>
            <a:off x="4480560" y="210312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H1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010912" y="2048256"/>
            <a:ext cx="2679192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80" b="1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Frustration is driven by hallucination, bias &amp; accuracy issues — not speed.</a:t>
            </a:r>
            <a:endParaRPr lang="en-US" sz="880" dirty="0"/>
          </a:p>
        </p:txBody>
      </p:sp>
      <p:sp>
        <p:nvSpPr>
          <p:cNvPr id="44" name="Text 42"/>
          <p:cNvSpPr txBox="1"/>
          <p:nvPr/>
        </p:nvSpPr>
        <p:spPr>
          <a:xfrm>
            <a:off x="4480560" y="260604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i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</a:t>
            </a:r>
            <a:r>
              <a:rPr lang="en-US" sz="730" i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Validated — top complaint in surveys + secondary data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4370832" y="3012948"/>
            <a:ext cx="3364992" cy="886968"/>
          </a:xfrm>
          <a:prstGeom prst="roundRect">
            <a:avLst>
              <a:gd name="adj" fmla="val 7216"/>
            </a:avLst>
          </a:prstGeom>
          <a:solidFill>
            <a:srgbClr val="F5F0FC"/>
          </a:solidFill>
          <a:ln w="9525">
            <a:solidFill>
              <a:srgbClr val="EDE4F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3122676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5B21B6"/>
          </a:solidFill>
        </p:spPr>
      </p:sp>
      <p:sp>
        <p:nvSpPr>
          <p:cNvPr id="47" name="Text 45"/>
          <p:cNvSpPr txBox="1"/>
          <p:nvPr/>
        </p:nvSpPr>
        <p:spPr>
          <a:xfrm>
            <a:off x="4480560" y="3122676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H2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010912" y="3067812"/>
            <a:ext cx="2679192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80" b="1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tracks transparency, not accuracy alone — users override what they can't see the reasoning for.</a:t>
            </a:r>
            <a:endParaRPr lang="en-US" sz="880" dirty="0"/>
          </a:p>
        </p:txBody>
      </p:sp>
      <p:sp>
        <p:nvSpPr>
          <p:cNvPr id="49" name="Text 47"/>
          <p:cNvSpPr txBox="1"/>
          <p:nvPr/>
        </p:nvSpPr>
        <p:spPr>
          <a:xfrm>
            <a:off x="4480560" y="3625596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i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</a:t>
            </a:r>
            <a:r>
              <a:rPr lang="en-US" sz="730" i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Validated — override rate 49% → 74% as transparency drops</a:t>
            </a:r>
            <a:endParaRPr lang="en-US" sz="730" dirty="0"/>
          </a:p>
        </p:txBody>
      </p:sp>
      <p:sp>
        <p:nvSpPr>
          <p:cNvPr id="50" name="Shape 48"/>
          <p:cNvSpPr/>
          <p:nvPr/>
        </p:nvSpPr>
        <p:spPr>
          <a:xfrm>
            <a:off x="4370832" y="4032504"/>
            <a:ext cx="3364992" cy="886968"/>
          </a:xfrm>
          <a:prstGeom prst="roundRect">
            <a:avLst>
              <a:gd name="adj" fmla="val 7216"/>
            </a:avLst>
          </a:prstGeom>
          <a:solidFill>
            <a:srgbClr val="F5F0FC"/>
          </a:solidFill>
          <a:ln w="9525">
            <a:solidFill>
              <a:srgbClr val="EDE4F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80560" y="4142232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5B21B6"/>
          </a:solidFill>
        </p:spPr>
      </p:sp>
      <p:sp>
        <p:nvSpPr>
          <p:cNvPr id="52" name="Text 50"/>
          <p:cNvSpPr txBox="1"/>
          <p:nvPr/>
        </p:nvSpPr>
        <p:spPr>
          <a:xfrm>
            <a:off x="4480560" y="414223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H3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5010912" y="4087368"/>
            <a:ext cx="2679192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80" b="1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risk model can't fit all use cases — customer, internal &amp; regulated AI need different oversight.</a:t>
            </a:r>
            <a:endParaRPr lang="en-US" sz="880" dirty="0"/>
          </a:p>
        </p:txBody>
      </p:sp>
      <p:sp>
        <p:nvSpPr>
          <p:cNvPr id="54" name="Text 52"/>
          <p:cNvSpPr txBox="1"/>
          <p:nvPr/>
        </p:nvSpPr>
        <p:spPr>
          <a:xfrm>
            <a:off x="4480560" y="4645152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i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</a:t>
            </a:r>
            <a:r>
              <a:rPr lang="en-US" sz="730" i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Validated — trust ranges from 34% to 79% by context</a:t>
            </a:r>
            <a:endParaRPr lang="en-US" sz="730" dirty="0"/>
          </a:p>
        </p:txBody>
      </p:sp>
      <p:sp>
        <p:nvSpPr>
          <p:cNvPr id="55" name="Shape 53"/>
          <p:cNvSpPr/>
          <p:nvPr/>
        </p:nvSpPr>
        <p:spPr>
          <a:xfrm>
            <a:off x="4370832" y="5052060"/>
            <a:ext cx="3364992" cy="886968"/>
          </a:xfrm>
          <a:prstGeom prst="roundRect">
            <a:avLst>
              <a:gd name="adj" fmla="val 7216"/>
            </a:avLst>
          </a:prstGeom>
          <a:solidFill>
            <a:srgbClr val="F5F0FC"/>
          </a:solidFill>
          <a:ln w="9525">
            <a:solidFill>
              <a:srgbClr val="EDE4F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80560" y="5161788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5B21B6"/>
          </a:solidFill>
        </p:spPr>
      </p:sp>
      <p:sp>
        <p:nvSpPr>
          <p:cNvPr id="57" name="Text 55"/>
          <p:cNvSpPr txBox="1"/>
          <p:nvPr/>
        </p:nvSpPr>
        <p:spPr>
          <a:xfrm>
            <a:off x="4480560" y="516178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H4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5010912" y="5106924"/>
            <a:ext cx="2679192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80" b="1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adoption hides low real trust — usage looks solved when it isn't.</a:t>
            </a:r>
            <a:endParaRPr lang="en-US" sz="880" dirty="0"/>
          </a:p>
        </p:txBody>
      </p:sp>
      <p:sp>
        <p:nvSpPr>
          <p:cNvPr id="59" name="Text 57"/>
          <p:cNvSpPr txBox="1"/>
          <p:nvPr/>
        </p:nvSpPr>
        <p:spPr>
          <a:xfrm>
            <a:off x="4480560" y="5664708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b="1" i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</a:t>
            </a:r>
            <a:r>
              <a:rPr lang="en-US" sz="730" i="1" dirty="0">
                <a:solidFill>
                  <a:srgbClr val="1580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Validated — 86–91% adoption vs. only 10–15% daily use</a:t>
            </a:r>
            <a:endParaRPr lang="en-US" sz="730" dirty="0"/>
          </a:p>
        </p:txBody>
      </p:sp>
      <p:sp>
        <p:nvSpPr>
          <p:cNvPr id="60" name="Shape 58"/>
          <p:cNvSpPr/>
          <p:nvPr/>
        </p:nvSpPr>
        <p:spPr>
          <a:xfrm>
            <a:off x="8147304" y="1225296"/>
            <a:ext cx="420624" cy="420624"/>
          </a:xfrm>
          <a:prstGeom prst="ellipse">
            <a:avLst/>
          </a:prstGeom>
          <a:solidFill>
            <a:srgbClr val="5B21B6"/>
          </a:solidFill>
        </p:spPr>
      </p:sp>
      <p:sp>
        <p:nvSpPr>
          <p:cNvPr id="61" name="Text 59"/>
          <p:cNvSpPr txBox="1"/>
          <p:nvPr/>
        </p:nvSpPr>
        <p:spPr>
          <a:xfrm>
            <a:off x="8147304" y="12252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8677656" y="1243584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DE4FB"/>
          </a:solidFill>
        </p:spPr>
      </p:sp>
      <p:sp>
        <p:nvSpPr>
          <p:cNvPr id="63" name="Text 61"/>
          <p:cNvSpPr txBox="1"/>
          <p:nvPr/>
        </p:nvSpPr>
        <p:spPr>
          <a:xfrm>
            <a:off x="8677656" y="124358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21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Insight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8147304" y="1847088"/>
            <a:ext cx="3639312" cy="4645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348472" y="2048256"/>
            <a:ext cx="3236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i="1" dirty="0">
                <a:solidFill>
                  <a:srgbClr val="5B21B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AI's biggest failure isn't a broken model — it's an invisible one.</a:t>
            </a:r>
            <a:endParaRPr lang="en-US" sz="1550" dirty="0"/>
          </a:p>
        </p:txBody>
      </p:sp>
      <p:sp>
        <p:nvSpPr>
          <p:cNvPr id="66" name="Text 64"/>
          <p:cNvSpPr txBox="1"/>
          <p:nvPr/>
        </p:nvSpPr>
        <p:spPr>
          <a:xfrm>
            <a:off x="8348472" y="2962656"/>
            <a:ext cx="3236976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Across every context we studied — customer-facing, internal, and regulated — the same pattern repeats: broad adoption, shallow trust, and no real-time visibility into when AI goes wrong, not if.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8348472" y="3922776"/>
            <a:ext cx="3236976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is a validated, structural trust gap — not a hypothetical one. ControlPlane.ai exists to close it: continuous, real-time oversight that makes AI's blind spots visible and actionable across every use case.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348472" y="4974336"/>
            <a:ext cx="3236976" cy="0"/>
          </a:xfrm>
          <a:prstGeom prst="line">
            <a:avLst/>
          </a:prstGeom>
          <a:noFill/>
          <a:ln w="12700">
            <a:solidFill>
              <a:srgbClr val="D8D3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84464" y="5102352"/>
            <a:ext cx="3364992" cy="1252728"/>
          </a:xfrm>
          <a:prstGeom prst="roundRect">
            <a:avLst>
              <a:gd name="adj" fmla="val 5109"/>
            </a:avLst>
          </a:prstGeom>
          <a:solidFill>
            <a:srgbClr val="F5F0FC"/>
          </a:solidFill>
          <a:ln w="9525">
            <a:solidFill>
              <a:srgbClr val="EDE4F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421624" y="5221224"/>
            <a:ext cx="3090672" cy="10241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800" b="1" kern="0" spc="100" dirty="0">
                <a:solidFill>
                  <a:srgbClr val="5B21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BASE</a:t>
            </a:r>
            <a:endParaRPr lang="en-US" sz="80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78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 surveys · 5 student interviews · 3 employee interviews · 5 secondary industry reports</a:t>
            </a:r>
            <a:endParaRPr lang="en-US" sz="8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800" b="1" kern="0" spc="100" dirty="0">
                <a:solidFill>
                  <a:srgbClr val="5B21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COVERAGE</a:t>
            </a:r>
            <a:endParaRPr lang="en-US" sz="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80" dirty="0">
                <a:solidFill>
                  <a:srgbClr val="1F123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Spans all 3 enterprise AI contexts — customer-facing, internal, and regulated decision-support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554480" cy="457200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3" name="Text 1"/>
          <p:cNvSpPr/>
          <p:nvPr/>
        </p:nvSpPr>
        <p:spPr>
          <a:xfrm>
            <a:off x="320040" y="201168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11680" y="173736"/>
            <a:ext cx="9857232" cy="530352"/>
          </a:xfrm>
          <a:prstGeom prst="rect">
            <a:avLst/>
          </a:prstGeom>
          <a:solidFill>
            <a:srgbClr val="EDE4FB"/>
          </a:solidFill>
        </p:spPr>
      </p:sp>
      <p:sp>
        <p:nvSpPr>
          <p:cNvPr id="5" name="Text 3"/>
          <p:cNvSpPr/>
          <p:nvPr/>
        </p:nvSpPr>
        <p:spPr>
          <a:xfrm>
            <a:off x="2194560" y="173736"/>
            <a:ext cx="9601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adoption is fragmenting into three distinct populations</a:t>
            </a:r>
            <a:endParaRPr lang="en-US" sz="14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oversight has to fit each one, not the loudest one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532120" cy="658368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7" name="Image 0" descr="/home/claude/icons/light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87782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84124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DC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INSIGHT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87552" y="1024128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ControlPlane.ai must work across three AI populations — each with its own inbuilt vs. standalone mix, user base, and reasons for reaching for AI. Getting this landscape right keeps oversight accurate for every use case.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89320" y="777240"/>
            <a:ext cx="5879592" cy="658368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82296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MATTERS NOW</a:t>
            </a:r>
            <a:endParaRPr lang="en-US" sz="1050" dirty="0"/>
          </a:p>
        </p:txBody>
      </p:sp>
      <p:pic>
        <p:nvPicPr>
          <p:cNvPr id="12" name="Image 1" descr="/home/claude/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2412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46520" y="98755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1.6% → 48%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72200" y="122529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Regulated AI usage growth</a:t>
            </a:r>
            <a:endParaRPr lang="en-US" sz="720" dirty="0"/>
          </a:p>
        </p:txBody>
      </p:sp>
      <p:pic>
        <p:nvPicPr>
          <p:cNvPr id="15" name="Image 2" descr="/home/claude/icons/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024128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94192" y="98755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 vs 34%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119872" y="122529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Trust: vetted vs. standalone AI</a:t>
            </a:r>
            <a:endParaRPr lang="en-US" sz="720" dirty="0"/>
          </a:p>
        </p:txBody>
      </p:sp>
      <p:pic>
        <p:nvPicPr>
          <p:cNvPr id="18" name="Image 3" descr="/home/claude/icons/userfrien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7544" y="10241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341864" y="98755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75% vs 51%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067544" y="122529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Leader vs. frontline adoption</a:t>
            </a:r>
            <a:endParaRPr lang="en-US" sz="720" dirty="0"/>
          </a:p>
        </p:txBody>
      </p:sp>
      <p:sp>
        <p:nvSpPr>
          <p:cNvPr id="21" name="Shape 15"/>
          <p:cNvSpPr/>
          <p:nvPr/>
        </p:nvSpPr>
        <p:spPr>
          <a:xfrm>
            <a:off x="320040" y="1490472"/>
            <a:ext cx="11548872" cy="256032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22" name="Shape 16"/>
          <p:cNvSpPr/>
          <p:nvPr/>
        </p:nvSpPr>
        <p:spPr>
          <a:xfrm>
            <a:off x="402336" y="1517904"/>
            <a:ext cx="201168" cy="201168"/>
          </a:xfrm>
          <a:prstGeom prst="ellipse">
            <a:avLst/>
          </a:prstGeom>
          <a:solidFill>
            <a:srgbClr val="F0DCB8"/>
          </a:solidFill>
        </p:spPr>
      </p:sp>
      <p:sp>
        <p:nvSpPr>
          <p:cNvPr id="23" name="Text 17"/>
          <p:cNvSpPr/>
          <p:nvPr/>
        </p:nvSpPr>
        <p:spPr>
          <a:xfrm>
            <a:off x="402336" y="151790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31520" y="149047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AI populations organizations must govern — each with its own inbuilt vs. standalone mix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0040" y="1828800"/>
            <a:ext cx="367588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0"/>
            </a:solidFill>
            <a:prstDash val="solid"/>
          </a:ln>
          <a:effectLst>
            <a:outerShdw blurRad="508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056" y="1929384"/>
            <a:ext cx="310896" cy="310896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27" name="Image 4" descr="/home/claude/icons/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" y="1997964"/>
            <a:ext cx="173736" cy="1737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32104" y="1911096"/>
            <a:ext cx="30358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Customer-Facing AI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466344" y="2313432"/>
            <a:ext cx="1645920" cy="749808"/>
          </a:xfrm>
          <a:prstGeom prst="rect">
            <a:avLst/>
          </a:prstGeom>
          <a:solidFill>
            <a:srgbClr val="EDE4FB"/>
          </a:solidFill>
          <a:ln w="6350">
            <a:solidFill>
              <a:srgbClr val="D8D3E0"/>
            </a:solidFill>
            <a:prstDash val="solid"/>
          </a:ln>
        </p:spPr>
      </p:sp>
      <p:pic>
        <p:nvPicPr>
          <p:cNvPr id="30" name="Image 5" descr="/home/claude/icons/check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" y="2377440"/>
            <a:ext cx="128016" cy="12801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4944" y="235458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INBUILT AI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539496" y="2532888"/>
            <a:ext cx="1499616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9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Company's own in-app assistant (bank/telco chatbot). Primary touchpoint for most end customers.</a:t>
            </a:r>
            <a:endParaRPr lang="en-US" sz="690" dirty="0"/>
          </a:p>
        </p:txBody>
      </p:sp>
      <p:sp>
        <p:nvSpPr>
          <p:cNvPr id="33" name="Shape 25"/>
          <p:cNvSpPr/>
          <p:nvPr/>
        </p:nvSpPr>
        <p:spPr>
          <a:xfrm>
            <a:off x="2203704" y="2313432"/>
            <a:ext cx="1645920" cy="749808"/>
          </a:xfrm>
          <a:prstGeom prst="rect">
            <a:avLst/>
          </a:prstGeom>
          <a:solidFill>
            <a:srgbClr val="FDF6EC"/>
          </a:solidFill>
          <a:ln w="6350">
            <a:solidFill>
              <a:srgbClr val="F0DCB8"/>
            </a:solidFill>
            <a:prstDash val="solid"/>
          </a:ln>
        </p:spPr>
      </p:sp>
      <p:pic>
        <p:nvPicPr>
          <p:cNvPr id="34" name="Image 6" descr="/home/claude/icons/cu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6856" y="2377440"/>
            <a:ext cx="128016" cy="12801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432304" y="235458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STANDALONE AI</a:t>
            </a:r>
            <a:endParaRPr lang="en-US" sz="750" dirty="0"/>
          </a:p>
        </p:txBody>
      </p:sp>
      <p:sp>
        <p:nvSpPr>
          <p:cNvPr id="36" name="Text 27"/>
          <p:cNvSpPr/>
          <p:nvPr/>
        </p:nvSpPr>
        <p:spPr>
          <a:xfrm>
            <a:off x="2276856" y="2532888"/>
            <a:ext cx="1499616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9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tools (ChatGPT, Gemini) used outside the company app — for research or a second opinion.</a:t>
            </a:r>
            <a:endParaRPr lang="en-US" sz="690" dirty="0"/>
          </a:p>
        </p:txBody>
      </p:sp>
      <p:sp>
        <p:nvSpPr>
          <p:cNvPr id="37" name="Shape 28"/>
          <p:cNvSpPr/>
          <p:nvPr/>
        </p:nvSpPr>
        <p:spPr>
          <a:xfrm>
            <a:off x="466344" y="3136392"/>
            <a:ext cx="3383280" cy="457200"/>
          </a:xfrm>
          <a:prstGeom prst="rect">
            <a:avLst/>
          </a:prstGeom>
          <a:solidFill>
            <a:srgbClr val="F5F0FC"/>
          </a:solidFill>
        </p:spPr>
      </p:sp>
      <p:pic>
        <p:nvPicPr>
          <p:cNvPr id="38" name="Image 7" descr="/home/claude/icons/userfrien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195828"/>
            <a:ext cx="146304" cy="14630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22376" y="3177540"/>
            <a:ext cx="3127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BASE (Standalone AI, by age)</a:t>
            </a:r>
            <a:endParaRPr lang="en-US" sz="700" dirty="0"/>
          </a:p>
        </p:txBody>
      </p:sp>
      <p:sp>
        <p:nvSpPr>
          <p:cNvPr id="40" name="Text 30"/>
          <p:cNvSpPr/>
          <p:nvPr/>
        </p:nvSpPr>
        <p:spPr>
          <a:xfrm>
            <a:off x="530352" y="3337560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18–34: 55%   ·   35–54: 35%   ·   55+: 10%</a:t>
            </a:r>
            <a:endParaRPr lang="en-US" sz="730" dirty="0"/>
          </a:p>
        </p:txBody>
      </p:sp>
      <p:sp>
        <p:nvSpPr>
          <p:cNvPr id="41" name="Text 31"/>
          <p:cNvSpPr/>
          <p:nvPr/>
        </p:nvSpPr>
        <p:spPr>
          <a:xfrm>
            <a:off x="466344" y="3657600"/>
            <a:ext cx="3383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THEY USE AI</a:t>
            </a:r>
            <a:endParaRPr lang="en-US" sz="750" dirty="0"/>
          </a:p>
        </p:txBody>
      </p:sp>
      <p:pic>
        <p:nvPicPr>
          <p:cNvPr id="42" name="Image 8" descr="/home/claude/icons/arrow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" y="3826764"/>
            <a:ext cx="91440" cy="9144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21792" y="3822192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Instant, 24/7 answers — 82% prefer AI-first for immediate queries</a:t>
            </a:r>
            <a:endParaRPr lang="en-US" sz="680" dirty="0"/>
          </a:p>
        </p:txBody>
      </p:sp>
      <p:pic>
        <p:nvPicPr>
          <p:cNvPr id="44" name="Image 9" descr="/home/claude/icons/arrow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" y="4119372"/>
            <a:ext cx="91440" cy="9144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621792" y="4114800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Convenience — 67% used a chatbot in the past year</a:t>
            </a:r>
            <a:endParaRPr lang="en-US" sz="680" dirty="0"/>
          </a:p>
        </p:txBody>
      </p:sp>
      <p:pic>
        <p:nvPicPr>
          <p:cNvPr id="46" name="Image 10" descr="/home/claude/icons/arrow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" y="4338828"/>
            <a:ext cx="91440" cy="9144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21792" y="4334256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Still guarded — 79% prefer a human for serious issues</a:t>
            </a:r>
            <a:endParaRPr lang="en-US" sz="680" dirty="0"/>
          </a:p>
        </p:txBody>
      </p:sp>
      <p:sp>
        <p:nvSpPr>
          <p:cNvPr id="48" name="Shape 35"/>
          <p:cNvSpPr/>
          <p:nvPr/>
        </p:nvSpPr>
        <p:spPr>
          <a:xfrm>
            <a:off x="4114800" y="1828800"/>
            <a:ext cx="367588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0"/>
            </a:solidFill>
            <a:prstDash val="solid"/>
          </a:ln>
          <a:effectLst>
            <a:outerShdw blurRad="508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4242816" y="1929384"/>
            <a:ext cx="310896" cy="310896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50" name="Image 11" descr="/home/claude/icons/briefc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1396" y="1997964"/>
            <a:ext cx="173736" cy="173736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4626864" y="1911096"/>
            <a:ext cx="30358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Employee AI</a:t>
            </a:r>
            <a:endParaRPr lang="en-US" sz="1250" dirty="0"/>
          </a:p>
        </p:txBody>
      </p:sp>
      <p:sp>
        <p:nvSpPr>
          <p:cNvPr id="52" name="Shape 38"/>
          <p:cNvSpPr/>
          <p:nvPr/>
        </p:nvSpPr>
        <p:spPr>
          <a:xfrm>
            <a:off x="4261104" y="2313432"/>
            <a:ext cx="1645920" cy="749808"/>
          </a:xfrm>
          <a:prstGeom prst="rect">
            <a:avLst/>
          </a:prstGeom>
          <a:solidFill>
            <a:srgbClr val="EDE4FB"/>
          </a:solidFill>
          <a:ln w="6350">
            <a:solidFill>
              <a:srgbClr val="D8D3E0"/>
            </a:solidFill>
            <a:prstDash val="solid"/>
          </a:ln>
        </p:spPr>
      </p:sp>
      <p:pic>
        <p:nvPicPr>
          <p:cNvPr id="53" name="Image 12" descr="/home/claude/icons/check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4256" y="2377440"/>
            <a:ext cx="128016" cy="128016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4489704" y="235458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INBUILT AI</a:t>
            </a:r>
            <a:endParaRPr lang="en-US" sz="750" dirty="0"/>
          </a:p>
        </p:txBody>
      </p:sp>
      <p:sp>
        <p:nvSpPr>
          <p:cNvPr id="55" name="Text 40"/>
          <p:cNvSpPr/>
          <p:nvPr/>
        </p:nvSpPr>
        <p:spPr>
          <a:xfrm>
            <a:off x="4334256" y="2532888"/>
            <a:ext cx="1499616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9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Company-built copilot for employees only. Skews technical: Engineers 71%, Marketing 63%, IT 55%.</a:t>
            </a:r>
            <a:endParaRPr lang="en-US" sz="690" dirty="0"/>
          </a:p>
        </p:txBody>
      </p:sp>
      <p:sp>
        <p:nvSpPr>
          <p:cNvPr id="56" name="Shape 41"/>
          <p:cNvSpPr/>
          <p:nvPr/>
        </p:nvSpPr>
        <p:spPr>
          <a:xfrm>
            <a:off x="5998464" y="2313432"/>
            <a:ext cx="1645920" cy="749808"/>
          </a:xfrm>
          <a:prstGeom prst="rect">
            <a:avLst/>
          </a:prstGeom>
          <a:solidFill>
            <a:srgbClr val="FDF6EC"/>
          </a:solidFill>
          <a:ln w="6350">
            <a:solidFill>
              <a:srgbClr val="F0DCB8"/>
            </a:solidFill>
            <a:prstDash val="solid"/>
          </a:ln>
        </p:spPr>
      </p:sp>
      <p:pic>
        <p:nvPicPr>
          <p:cNvPr id="57" name="Image 13" descr="/home/claude/icons/cu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1616" y="2377440"/>
            <a:ext cx="128016" cy="128016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6227064" y="235458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STANDALONE AI</a:t>
            </a:r>
            <a:endParaRPr lang="en-US" sz="750" dirty="0"/>
          </a:p>
        </p:txBody>
      </p:sp>
      <p:sp>
        <p:nvSpPr>
          <p:cNvPr id="59" name="Text 43"/>
          <p:cNvSpPr/>
          <p:nvPr/>
        </p:nvSpPr>
        <p:spPr>
          <a:xfrm>
            <a:off x="6071616" y="2532888"/>
            <a:ext cx="1499616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9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ChatGPT/Copilot etc. used informally alongside sanctioned tools — often the default choice.</a:t>
            </a:r>
            <a:endParaRPr lang="en-US" sz="690" dirty="0"/>
          </a:p>
        </p:txBody>
      </p:sp>
      <p:sp>
        <p:nvSpPr>
          <p:cNvPr id="60" name="Shape 44"/>
          <p:cNvSpPr/>
          <p:nvPr/>
        </p:nvSpPr>
        <p:spPr>
          <a:xfrm>
            <a:off x="4261104" y="3136392"/>
            <a:ext cx="3383280" cy="457200"/>
          </a:xfrm>
          <a:prstGeom prst="rect">
            <a:avLst/>
          </a:prstGeom>
          <a:solidFill>
            <a:srgbClr val="F5F0FC"/>
          </a:solidFill>
        </p:spPr>
      </p:sp>
      <p:pic>
        <p:nvPicPr>
          <p:cNvPr id="61" name="Image 14" descr="/home/claude/icons/userfrien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112" y="3195828"/>
            <a:ext cx="146304" cy="146304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4517136" y="3177540"/>
            <a:ext cx="3127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BASE (adoption gap)</a:t>
            </a:r>
            <a:endParaRPr lang="en-US" sz="700" dirty="0"/>
          </a:p>
        </p:txBody>
      </p:sp>
      <p:sp>
        <p:nvSpPr>
          <p:cNvPr id="63" name="Text 46"/>
          <p:cNvSpPr/>
          <p:nvPr/>
        </p:nvSpPr>
        <p:spPr>
          <a:xfrm>
            <a:off x="4325112" y="3337560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Leaders: 75%  vs.  Frontline: 51% — the “silicon ceiling”</a:t>
            </a:r>
            <a:endParaRPr lang="en-US" sz="730" dirty="0"/>
          </a:p>
        </p:txBody>
      </p:sp>
      <p:sp>
        <p:nvSpPr>
          <p:cNvPr id="64" name="Text 47"/>
          <p:cNvSpPr/>
          <p:nvPr/>
        </p:nvSpPr>
        <p:spPr>
          <a:xfrm>
            <a:off x="4261104" y="3657600"/>
            <a:ext cx="3383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THEY USE AI</a:t>
            </a:r>
            <a:endParaRPr lang="en-US" sz="750" dirty="0"/>
          </a:p>
        </p:txBody>
      </p:sp>
      <p:pic>
        <p:nvPicPr>
          <p:cNvPr id="65" name="Image 15" descr="/home/claude/icons/arrow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0248" y="3826764"/>
            <a:ext cx="91440" cy="91440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4416552" y="3822192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Saves time — 2.2 hrs/week per user reclaimed</a:t>
            </a:r>
            <a:endParaRPr lang="en-US" sz="680" dirty="0"/>
          </a:p>
        </p:txBody>
      </p:sp>
      <p:pic>
        <p:nvPicPr>
          <p:cNvPr id="67" name="Image 16" descr="/home/claude/icons/arrow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0248" y="4046220"/>
            <a:ext cx="91440" cy="91440"/>
          </a:xfrm>
          <a:prstGeom prst="rect">
            <a:avLst/>
          </a:prstGeom>
        </p:spPr>
      </p:pic>
      <p:sp>
        <p:nvSpPr>
          <p:cNvPr id="68" name="Text 49"/>
          <p:cNvSpPr/>
          <p:nvPr/>
        </p:nvSpPr>
        <p:spPr>
          <a:xfrm>
            <a:off x="4416552" y="4041648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Offloads repetitive, low-value admin work</a:t>
            </a:r>
            <a:endParaRPr lang="en-US" sz="680" dirty="0"/>
          </a:p>
        </p:txBody>
      </p:sp>
      <p:pic>
        <p:nvPicPr>
          <p:cNvPr id="69" name="Image 17" descr="/home/claude/icons/arrow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0248" y="4265676"/>
            <a:ext cx="91440" cy="91440"/>
          </a:xfrm>
          <a:prstGeom prst="rect">
            <a:avLst/>
          </a:prstGeom>
        </p:spPr>
      </p:pic>
      <p:sp>
        <p:nvSpPr>
          <p:cNvPr id="70" name="Text 50"/>
          <p:cNvSpPr/>
          <p:nvPr/>
        </p:nvSpPr>
        <p:spPr>
          <a:xfrm>
            <a:off x="4416552" y="4261104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29% trust its accuracy (down from 40%) — 37% of time saved is lost fixing mistakes</a:t>
            </a:r>
            <a:endParaRPr lang="en-US" sz="680" dirty="0"/>
          </a:p>
        </p:txBody>
      </p:sp>
      <p:sp>
        <p:nvSpPr>
          <p:cNvPr id="71" name="Shape 51"/>
          <p:cNvSpPr/>
          <p:nvPr/>
        </p:nvSpPr>
        <p:spPr>
          <a:xfrm>
            <a:off x="7909560" y="1828800"/>
            <a:ext cx="367588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0"/>
            </a:solidFill>
            <a:prstDash val="solid"/>
          </a:ln>
          <a:effectLst>
            <a:outerShdw blurRad="508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72" name="Shape 52"/>
          <p:cNvSpPr/>
          <p:nvPr/>
        </p:nvSpPr>
        <p:spPr>
          <a:xfrm>
            <a:off x="8037576" y="1929384"/>
            <a:ext cx="310896" cy="310896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73" name="Image 18" descr="/home/claude/icons/shieldal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6156" y="1997964"/>
            <a:ext cx="173736" cy="173736"/>
          </a:xfrm>
          <a:prstGeom prst="rect">
            <a:avLst/>
          </a:prstGeom>
        </p:spPr>
      </p:pic>
      <p:sp>
        <p:nvSpPr>
          <p:cNvPr id="74" name="Text 53"/>
          <p:cNvSpPr/>
          <p:nvPr/>
        </p:nvSpPr>
        <p:spPr>
          <a:xfrm>
            <a:off x="8421624" y="1911096"/>
            <a:ext cx="30358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Regulated Decision-Support</a:t>
            </a:r>
            <a:endParaRPr lang="en-US" sz="1250" dirty="0"/>
          </a:p>
        </p:txBody>
      </p:sp>
      <p:sp>
        <p:nvSpPr>
          <p:cNvPr id="75" name="Shape 54"/>
          <p:cNvSpPr/>
          <p:nvPr/>
        </p:nvSpPr>
        <p:spPr>
          <a:xfrm>
            <a:off x="8055864" y="2313432"/>
            <a:ext cx="1645920" cy="749808"/>
          </a:xfrm>
          <a:prstGeom prst="rect">
            <a:avLst/>
          </a:prstGeom>
          <a:solidFill>
            <a:srgbClr val="EDE4FB"/>
          </a:solidFill>
          <a:ln w="6350">
            <a:solidFill>
              <a:srgbClr val="D8D3E0"/>
            </a:solidFill>
            <a:prstDash val="solid"/>
          </a:ln>
        </p:spPr>
      </p:sp>
      <p:pic>
        <p:nvPicPr>
          <p:cNvPr id="76" name="Image 19" descr="/home/claude/icons/check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9016" y="2377440"/>
            <a:ext cx="128016" cy="128016"/>
          </a:xfrm>
          <a:prstGeom prst="rect">
            <a:avLst/>
          </a:prstGeom>
        </p:spPr>
      </p:pic>
      <p:sp>
        <p:nvSpPr>
          <p:cNvPr id="77" name="Text 55"/>
          <p:cNvSpPr/>
          <p:nvPr/>
        </p:nvSpPr>
        <p:spPr>
          <a:xfrm>
            <a:off x="8284464" y="235458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INBUILT AI</a:t>
            </a:r>
            <a:endParaRPr lang="en-US" sz="750" dirty="0"/>
          </a:p>
        </p:txBody>
      </p:sp>
      <p:sp>
        <p:nvSpPr>
          <p:cNvPr id="78" name="Text 56"/>
          <p:cNvSpPr/>
          <p:nvPr/>
        </p:nvSpPr>
        <p:spPr>
          <a:xfrm>
            <a:off x="8129016" y="2532888"/>
            <a:ext cx="1499616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9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Vetted, compliance-approved tool embedded in the workflow. Highly preferred — 80% trust it.</a:t>
            </a:r>
            <a:endParaRPr lang="en-US" sz="690" dirty="0"/>
          </a:p>
        </p:txBody>
      </p:sp>
      <p:sp>
        <p:nvSpPr>
          <p:cNvPr id="79" name="Shape 57"/>
          <p:cNvSpPr/>
          <p:nvPr/>
        </p:nvSpPr>
        <p:spPr>
          <a:xfrm>
            <a:off x="9793224" y="2313432"/>
            <a:ext cx="1645920" cy="749808"/>
          </a:xfrm>
          <a:prstGeom prst="rect">
            <a:avLst/>
          </a:prstGeom>
          <a:solidFill>
            <a:srgbClr val="FDF6EC"/>
          </a:solidFill>
          <a:ln w="6350">
            <a:solidFill>
              <a:srgbClr val="F0DCB8"/>
            </a:solidFill>
            <a:prstDash val="solid"/>
          </a:ln>
        </p:spPr>
      </p:sp>
      <p:pic>
        <p:nvPicPr>
          <p:cNvPr id="80" name="Image 20" descr="/home/claude/icons/cu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6376" y="2377440"/>
            <a:ext cx="128016" cy="128016"/>
          </a:xfrm>
          <a:prstGeom prst="rect">
            <a:avLst/>
          </a:prstGeom>
        </p:spPr>
      </p:pic>
      <p:sp>
        <p:nvSpPr>
          <p:cNvPr id="81" name="Text 58"/>
          <p:cNvSpPr/>
          <p:nvPr/>
        </p:nvSpPr>
        <p:spPr>
          <a:xfrm>
            <a:off x="10021824" y="235458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STANDALONE AI</a:t>
            </a:r>
            <a:endParaRPr lang="en-US" sz="750" dirty="0"/>
          </a:p>
        </p:txBody>
      </p:sp>
      <p:sp>
        <p:nvSpPr>
          <p:cNvPr id="82" name="Text 59"/>
          <p:cNvSpPr/>
          <p:nvPr/>
        </p:nvSpPr>
        <p:spPr>
          <a:xfrm>
            <a:off x="9866376" y="2532888"/>
            <a:ext cx="1499616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9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Third-party/general AI used ad hoc. Less preferred — discouraged for compliance-adjacent calls.</a:t>
            </a:r>
            <a:endParaRPr lang="en-US" sz="690" dirty="0"/>
          </a:p>
        </p:txBody>
      </p:sp>
      <p:sp>
        <p:nvSpPr>
          <p:cNvPr id="83" name="Shape 60"/>
          <p:cNvSpPr/>
          <p:nvPr/>
        </p:nvSpPr>
        <p:spPr>
          <a:xfrm>
            <a:off x="8055864" y="3136392"/>
            <a:ext cx="3383280" cy="457200"/>
          </a:xfrm>
          <a:prstGeom prst="rect">
            <a:avLst/>
          </a:prstGeom>
          <a:solidFill>
            <a:srgbClr val="F5F0FC"/>
          </a:solidFill>
        </p:spPr>
      </p:sp>
      <p:pic>
        <p:nvPicPr>
          <p:cNvPr id="84" name="Image 21" descr="/home/claude/icons/userfrien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3195828"/>
            <a:ext cx="146304" cy="146304"/>
          </a:xfrm>
          <a:prstGeom prst="rect">
            <a:avLst/>
          </a:prstGeom>
        </p:spPr>
      </p:pic>
      <p:sp>
        <p:nvSpPr>
          <p:cNvPr id="85" name="Text 61"/>
          <p:cNvSpPr/>
          <p:nvPr/>
        </p:nvSpPr>
        <p:spPr>
          <a:xfrm>
            <a:off x="8311896" y="3177540"/>
            <a:ext cx="3127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BASE (clinicians &amp; compliance/finance)</a:t>
            </a:r>
            <a:endParaRPr lang="en-US" sz="700" dirty="0"/>
          </a:p>
        </p:txBody>
      </p:sp>
      <p:sp>
        <p:nvSpPr>
          <p:cNvPr id="86" name="Text 62"/>
          <p:cNvSpPr/>
          <p:nvPr/>
        </p:nvSpPr>
        <p:spPr>
          <a:xfrm>
            <a:off x="8119872" y="3337560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48% of clinicians now use AI (up from 26%) — but just 16% for actual clinical decisions</a:t>
            </a:r>
            <a:endParaRPr lang="en-US" sz="730" dirty="0"/>
          </a:p>
        </p:txBody>
      </p:sp>
      <p:sp>
        <p:nvSpPr>
          <p:cNvPr id="87" name="Text 63"/>
          <p:cNvSpPr/>
          <p:nvPr/>
        </p:nvSpPr>
        <p:spPr>
          <a:xfrm>
            <a:off x="8055864" y="3657600"/>
            <a:ext cx="3383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THEY USE AI</a:t>
            </a:r>
            <a:endParaRPr lang="en-US" sz="750" dirty="0"/>
          </a:p>
        </p:txBody>
      </p:sp>
      <p:pic>
        <p:nvPicPr>
          <p:cNvPr id="88" name="Image 22" descr="/home/claude/icons/arrow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5008" y="3826764"/>
            <a:ext cx="91440" cy="91440"/>
          </a:xfrm>
          <a:prstGeom prst="rect">
            <a:avLst/>
          </a:prstGeom>
        </p:spPr>
      </p:pic>
      <p:sp>
        <p:nvSpPr>
          <p:cNvPr id="89" name="Text 64"/>
          <p:cNvSpPr/>
          <p:nvPr/>
        </p:nvSpPr>
        <p:spPr>
          <a:xfrm>
            <a:off x="8211312" y="3822192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81% of physicians now use AI, 2x 2023's rate — mostly documentation &amp; research</a:t>
            </a:r>
            <a:endParaRPr lang="en-US" sz="680" dirty="0"/>
          </a:p>
        </p:txBody>
      </p:sp>
      <p:pic>
        <p:nvPicPr>
          <p:cNvPr id="90" name="Image 23" descr="/home/claude/icons/arrow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5008" y="4119372"/>
            <a:ext cx="91440" cy="91440"/>
          </a:xfrm>
          <a:prstGeom prst="rect">
            <a:avLst/>
          </a:prstGeom>
        </p:spPr>
      </p:pic>
      <p:sp>
        <p:nvSpPr>
          <p:cNvPr id="91" name="Text 65"/>
          <p:cNvSpPr/>
          <p:nvPr/>
        </p:nvSpPr>
        <p:spPr>
          <a:xfrm>
            <a:off x="8211312" y="4114800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Improves consistency &amp; auditability of decisions</a:t>
            </a:r>
            <a:endParaRPr lang="en-US" sz="680" dirty="0"/>
          </a:p>
        </p:txBody>
      </p:sp>
      <p:pic>
        <p:nvPicPr>
          <p:cNvPr id="92" name="Image 24" descr="/home/claude/icons/arrow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5008" y="4338828"/>
            <a:ext cx="91440" cy="91440"/>
          </a:xfrm>
          <a:prstGeom prst="rect">
            <a:avLst/>
          </a:prstGeom>
        </p:spPr>
      </p:pic>
      <p:sp>
        <p:nvSpPr>
          <p:cNvPr id="93" name="Text 66"/>
          <p:cNvSpPr/>
          <p:nvPr/>
        </p:nvSpPr>
        <p:spPr>
          <a:xfrm>
            <a:off x="8211312" y="4334256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34% trust AI agent actions — override rate 74% (low transparency) vs. 49% (high)</a:t>
            </a:r>
            <a:endParaRPr lang="en-US" sz="680" dirty="0"/>
          </a:p>
        </p:txBody>
      </p:sp>
      <p:sp>
        <p:nvSpPr>
          <p:cNvPr id="94" name="Shape 67"/>
          <p:cNvSpPr/>
          <p:nvPr/>
        </p:nvSpPr>
        <p:spPr>
          <a:xfrm>
            <a:off x="320040" y="4754880"/>
            <a:ext cx="11548872" cy="219456"/>
          </a:xfrm>
          <a:prstGeom prst="rect">
            <a:avLst/>
          </a:prstGeom>
          <a:solidFill>
            <a:srgbClr val="EDE4FB"/>
          </a:solidFill>
        </p:spPr>
      </p:sp>
      <p:pic>
        <p:nvPicPr>
          <p:cNvPr id="95" name="Image 25" descr="/home/claude/icons/chartb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336" y="4786884"/>
            <a:ext cx="155448" cy="155448"/>
          </a:xfrm>
          <a:prstGeom prst="rect">
            <a:avLst/>
          </a:prstGeom>
        </p:spPr>
      </p:pic>
      <p:sp>
        <p:nvSpPr>
          <p:cNvPr id="96" name="Text 68"/>
          <p:cNvSpPr/>
          <p:nvPr/>
        </p:nvSpPr>
        <p:spPr>
          <a:xfrm>
            <a:off x="621792" y="4754880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BACKING THE LANDSCAPE   </a:t>
            </a:r>
            <a:r>
              <a:rPr lang="en-US" sz="9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real growth, trust &amp; preference data behind each use case</a:t>
            </a:r>
            <a:endParaRPr lang="en-US" sz="900" dirty="0"/>
          </a:p>
        </p:txBody>
      </p:sp>
      <p:sp>
        <p:nvSpPr>
          <p:cNvPr id="97" name="Text 69"/>
          <p:cNvSpPr/>
          <p:nvPr/>
        </p:nvSpPr>
        <p:spPr>
          <a:xfrm>
            <a:off x="320040" y="5020056"/>
            <a:ext cx="36758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Usage Growth by Category (%)</a:t>
            </a:r>
            <a:endParaRPr lang="en-US" sz="800" dirty="0"/>
          </a:p>
        </p:txBody>
      </p:sp>
      <p:graphicFrame>
        <p:nvGraphicFramePr>
          <p:cNvPr id="98" name="Chart 0"/>
          <p:cNvGraphicFramePr/>
          <p:nvPr/>
        </p:nvGraphicFramePr>
        <p:xfrm>
          <a:off x="320040" y="5175504"/>
          <a:ext cx="3675888" cy="612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99" name="Text 70"/>
          <p:cNvSpPr/>
          <p:nvPr/>
        </p:nvSpPr>
        <p:spPr>
          <a:xfrm>
            <a:off x="4114800" y="5020056"/>
            <a:ext cx="36758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Declining Trust in AI, 2023 → 2025 (%)</a:t>
            </a:r>
            <a:endParaRPr lang="en-US" sz="800" dirty="0"/>
          </a:p>
        </p:txBody>
      </p:sp>
      <p:sp>
        <p:nvSpPr>
          <p:cNvPr id="100" name="Text 71"/>
          <p:cNvSpPr/>
          <p:nvPr/>
        </p:nvSpPr>
        <p:spPr>
          <a:xfrm>
            <a:off x="4114800" y="5221224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Customer-Facing</a:t>
            </a:r>
            <a:endParaRPr lang="en-US" sz="750" dirty="0"/>
          </a:p>
        </p:txBody>
      </p:sp>
      <p:sp>
        <p:nvSpPr>
          <p:cNvPr id="101" name="Shape 72"/>
          <p:cNvSpPr/>
          <p:nvPr/>
        </p:nvSpPr>
        <p:spPr>
          <a:xfrm>
            <a:off x="5376672" y="5248656"/>
            <a:ext cx="1561232" cy="146304"/>
          </a:xfrm>
          <a:prstGeom prst="rect">
            <a:avLst/>
          </a:prstGeom>
          <a:solidFill>
            <a:srgbClr val="5B21B6"/>
          </a:solidFill>
        </p:spPr>
      </p:sp>
      <p:sp>
        <p:nvSpPr>
          <p:cNvPr id="102" name="Text 73"/>
          <p:cNvSpPr/>
          <p:nvPr/>
        </p:nvSpPr>
        <p:spPr>
          <a:xfrm>
            <a:off x="5376672" y="5102352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62%</a:t>
            </a:r>
            <a:endParaRPr lang="en-US" sz="650" dirty="0"/>
          </a:p>
        </p:txBody>
      </p:sp>
      <p:pic>
        <p:nvPicPr>
          <p:cNvPr id="103" name="Image 26" descr="/home/claude/icons/arrow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0880" y="5234940"/>
            <a:ext cx="173736" cy="173736"/>
          </a:xfrm>
          <a:prstGeom prst="rect">
            <a:avLst/>
          </a:prstGeom>
        </p:spPr>
      </p:pic>
      <p:sp>
        <p:nvSpPr>
          <p:cNvPr id="104" name="Text 74"/>
          <p:cNvSpPr/>
          <p:nvPr/>
        </p:nvSpPr>
        <p:spPr>
          <a:xfrm>
            <a:off x="7242048" y="522122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900" dirty="0"/>
          </a:p>
        </p:txBody>
      </p:sp>
      <p:sp>
        <p:nvSpPr>
          <p:cNvPr id="105" name="Text 75"/>
          <p:cNvSpPr/>
          <p:nvPr/>
        </p:nvSpPr>
        <p:spPr>
          <a:xfrm>
            <a:off x="4114800" y="5486400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Employee</a:t>
            </a:r>
            <a:endParaRPr lang="en-US" sz="750" dirty="0"/>
          </a:p>
        </p:txBody>
      </p:sp>
      <p:sp>
        <p:nvSpPr>
          <p:cNvPr id="106" name="Shape 76"/>
          <p:cNvSpPr/>
          <p:nvPr/>
        </p:nvSpPr>
        <p:spPr>
          <a:xfrm>
            <a:off x="5376672" y="5513832"/>
            <a:ext cx="1007247" cy="146304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07" name="Text 77"/>
          <p:cNvSpPr/>
          <p:nvPr/>
        </p:nvSpPr>
        <p:spPr>
          <a:xfrm>
            <a:off x="5376672" y="5367528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pic>
        <p:nvPicPr>
          <p:cNvPr id="108" name="Image 27" descr="/home/claude/icons/arrow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0880" y="5500116"/>
            <a:ext cx="173736" cy="173736"/>
          </a:xfrm>
          <a:prstGeom prst="rect">
            <a:avLst/>
          </a:prstGeom>
        </p:spPr>
      </p:pic>
      <p:sp>
        <p:nvSpPr>
          <p:cNvPr id="109" name="Text 78"/>
          <p:cNvSpPr/>
          <p:nvPr/>
        </p:nvSpPr>
        <p:spPr>
          <a:xfrm>
            <a:off x="7242048" y="548640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29%</a:t>
            </a:r>
            <a:endParaRPr lang="en-US" sz="900" dirty="0"/>
          </a:p>
        </p:txBody>
      </p:sp>
      <p:sp>
        <p:nvSpPr>
          <p:cNvPr id="110" name="Text 79"/>
          <p:cNvSpPr/>
          <p:nvPr/>
        </p:nvSpPr>
        <p:spPr>
          <a:xfrm>
            <a:off x="4114800" y="5769864"/>
            <a:ext cx="3675888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 → 2025 (percentage-point change shown)</a:t>
            </a:r>
            <a:endParaRPr lang="en-US" sz="600" dirty="0"/>
          </a:p>
        </p:txBody>
      </p:sp>
      <p:sp>
        <p:nvSpPr>
          <p:cNvPr id="111" name="Text 80"/>
          <p:cNvSpPr/>
          <p:nvPr/>
        </p:nvSpPr>
        <p:spPr>
          <a:xfrm>
            <a:off x="7909560" y="5020056"/>
            <a:ext cx="36758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Regulated Workflows: Trust by AI Type (%)</a:t>
            </a:r>
            <a:endParaRPr lang="en-US" sz="800" dirty="0"/>
          </a:p>
        </p:txBody>
      </p:sp>
      <p:graphicFrame>
        <p:nvGraphicFramePr>
          <p:cNvPr id="112" name="Chart 1"/>
          <p:cNvGraphicFramePr/>
          <p:nvPr/>
        </p:nvGraphicFramePr>
        <p:xfrm>
          <a:off x="7909560" y="5175504"/>
          <a:ext cx="3675888" cy="612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13" name="Shape 81"/>
          <p:cNvSpPr/>
          <p:nvPr/>
        </p:nvSpPr>
        <p:spPr>
          <a:xfrm>
            <a:off x="320040" y="5861304"/>
            <a:ext cx="11548872" cy="402336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114" name="Image 28" descr="/home/claude/icons/flagchec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912" y="5971032"/>
            <a:ext cx="182880" cy="182880"/>
          </a:xfrm>
          <a:prstGeom prst="rect">
            <a:avLst/>
          </a:prstGeom>
        </p:spPr>
      </p:pic>
      <p:sp>
        <p:nvSpPr>
          <p:cNvPr id="115" name="Text 82"/>
          <p:cNvSpPr/>
          <p:nvPr/>
        </p:nvSpPr>
        <p:spPr>
          <a:xfrm>
            <a:off x="731520" y="5861304"/>
            <a:ext cx="11064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0DC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oversight model can't fit all three populations. Trust is falling for standalone use (customer &amp; employee) while regulated AI use is growing fastest but least trusted for real decisions → governance must flex by population, tool type, and decision stakes.</a:t>
            </a:r>
            <a:endParaRPr lang="en-US" sz="800" dirty="0"/>
          </a:p>
        </p:txBody>
      </p:sp>
      <p:sp>
        <p:nvSpPr>
          <p:cNvPr id="116" name="Text 83"/>
          <p:cNvSpPr/>
          <p:nvPr/>
        </p:nvSpPr>
        <p:spPr>
          <a:xfrm>
            <a:off x="320040" y="6291072"/>
            <a:ext cx="11548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Gartner · Avaya CX Statistics 2025 · Gallup Workforce Panel · Stack Overflow Developer Survey 2025 · Elsevier Clinician of the Future 2025 · AMA Physician AI Survey 2026 · Federal Reserve Bank of St. Louis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12582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554480" cy="457200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3" name="Text 1"/>
          <p:cNvSpPr/>
          <p:nvPr/>
        </p:nvSpPr>
        <p:spPr>
          <a:xfrm>
            <a:off x="320040" y="201168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11680" y="173736"/>
            <a:ext cx="9857232" cy="530352"/>
          </a:xfrm>
          <a:prstGeom prst="rect">
            <a:avLst/>
          </a:prstGeom>
          <a:solidFill>
            <a:srgbClr val="EDE4FB"/>
          </a:solidFill>
        </p:spPr>
      </p:sp>
      <p:sp>
        <p:nvSpPr>
          <p:cNvPr id="5" name="Text 3"/>
          <p:cNvSpPr/>
          <p:nvPr/>
        </p:nvSpPr>
        <p:spPr>
          <a:xfrm>
            <a:off x="2194560" y="173736"/>
            <a:ext cx="9601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ControlPlane.ai's risk taxonomy</a:t>
            </a:r>
            <a:endParaRPr lang="en-US" sz="14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and where each risk concentrates across the three AI populations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11548872" cy="256032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7" name="Shape 5"/>
          <p:cNvSpPr/>
          <p:nvPr/>
        </p:nvSpPr>
        <p:spPr>
          <a:xfrm>
            <a:off x="402336" y="832104"/>
            <a:ext cx="201168" cy="201168"/>
          </a:xfrm>
          <a:prstGeom prst="ellipse">
            <a:avLst/>
          </a:prstGeom>
          <a:solidFill>
            <a:srgbClr val="F0DCB8"/>
          </a:solidFill>
        </p:spPr>
      </p:sp>
      <p:sp>
        <p:nvSpPr>
          <p:cNvPr id="8" name="Text 6"/>
          <p:cNvSpPr/>
          <p:nvPr/>
        </p:nvSpPr>
        <p:spPr>
          <a:xfrm>
            <a:off x="402336" y="83210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can go wrong — the three risk dimensions ControlPlane Checker watches on every response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133856"/>
            <a:ext cx="1783080" cy="566928"/>
          </a:xfrm>
          <a:prstGeom prst="rect">
            <a:avLst/>
          </a:prstGeom>
          <a:solidFill>
            <a:srgbClr val="5B21B6"/>
          </a:solidFill>
        </p:spPr>
      </p:sp>
      <p:pic>
        <p:nvPicPr>
          <p:cNvPr id="11" name="Image 0" descr="/home/claude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700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8952" y="118872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146304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i="1" dirty="0">
                <a:solidFill>
                  <a:srgbClr val="EDE4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Confidently wrong responses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2194560" y="1133856"/>
            <a:ext cx="9674352" cy="566928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pic>
        <p:nvPicPr>
          <p:cNvPr id="15" name="Image 1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216152"/>
            <a:ext cx="118872" cy="1188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42032" y="1188720"/>
            <a:ext cx="28468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contains a mistaken / wrong established fact</a:t>
            </a:r>
            <a:endParaRPr lang="en-US" sz="760" dirty="0"/>
          </a:p>
        </p:txBody>
      </p:sp>
      <p:pic>
        <p:nvPicPr>
          <p:cNvPr id="17" name="Image 2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304" y="1216152"/>
            <a:ext cx="118872" cy="1188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44896" y="1188720"/>
            <a:ext cx="28468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important data in the prompt → hallucination</a:t>
            </a:r>
            <a:endParaRPr lang="en-US" sz="760" dirty="0"/>
          </a:p>
        </p:txBody>
      </p:sp>
      <p:pic>
        <p:nvPicPr>
          <p:cNvPr id="19" name="Image 3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168" y="1216152"/>
            <a:ext cx="118872" cy="1188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47760" y="1188720"/>
            <a:ext cx="28468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established resources to ground the answer → hallucinates</a:t>
            </a:r>
            <a:endParaRPr lang="en-US" sz="760" dirty="0"/>
          </a:p>
        </p:txBody>
      </p:sp>
      <p:sp>
        <p:nvSpPr>
          <p:cNvPr id="21" name="Shape 15"/>
          <p:cNvSpPr/>
          <p:nvPr/>
        </p:nvSpPr>
        <p:spPr>
          <a:xfrm>
            <a:off x="320040" y="1773936"/>
            <a:ext cx="1783080" cy="566928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22" name="Image 4" descr="/home/claude/icons/shield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4708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8952" y="182880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RESPONSIBILITY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457200" y="21031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i="1" dirty="0">
                <a:solidFill>
                  <a:srgbClr val="EDE4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 · unsafe/illegal · leaking data</a:t>
            </a:r>
            <a:endParaRPr lang="en-US" sz="700" dirty="0"/>
          </a:p>
        </p:txBody>
      </p:sp>
      <p:sp>
        <p:nvSpPr>
          <p:cNvPr id="25" name="Shape 18"/>
          <p:cNvSpPr/>
          <p:nvPr/>
        </p:nvSpPr>
        <p:spPr>
          <a:xfrm>
            <a:off x="2194560" y="1773936"/>
            <a:ext cx="96743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E0"/>
            </a:solidFill>
            <a:prstDash val="solid"/>
          </a:ln>
        </p:spPr>
      </p:sp>
      <p:pic>
        <p:nvPicPr>
          <p:cNvPr id="26" name="Image 5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856232"/>
            <a:ext cx="118872" cy="1188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542032" y="1828800"/>
            <a:ext cx="28468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Bias: user-steered or personalization-driven skew</a:t>
            </a:r>
            <a:endParaRPr lang="en-US" sz="760" dirty="0"/>
          </a:p>
        </p:txBody>
      </p:sp>
      <p:pic>
        <p:nvPicPr>
          <p:cNvPr id="28" name="Image 6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304" y="1856232"/>
            <a:ext cx="118872" cy="1188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644896" y="1828800"/>
            <a:ext cx="28468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Unsafe/illegal: harmful, toxic or confidential+illegal content</a:t>
            </a:r>
            <a:endParaRPr lang="en-US" sz="760" dirty="0"/>
          </a:p>
        </p:txBody>
      </p:sp>
      <p:pic>
        <p:nvPicPr>
          <p:cNvPr id="30" name="Image 7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168" y="1856232"/>
            <a:ext cx="118872" cy="11887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747760" y="1828800"/>
            <a:ext cx="28468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Leaking data: private/org info surfaced from training data</a:t>
            </a:r>
            <a:endParaRPr lang="en-US" sz="760" dirty="0"/>
          </a:p>
        </p:txBody>
      </p:sp>
      <p:sp>
        <p:nvSpPr>
          <p:cNvPr id="32" name="Shape 22"/>
          <p:cNvSpPr/>
          <p:nvPr/>
        </p:nvSpPr>
        <p:spPr>
          <a:xfrm>
            <a:off x="320040" y="2414016"/>
            <a:ext cx="1783080" cy="566928"/>
          </a:xfrm>
          <a:prstGeom prst="rect">
            <a:avLst/>
          </a:prstGeom>
          <a:solidFill>
            <a:srgbClr val="B45309"/>
          </a:solidFill>
        </p:spPr>
      </p:sp>
      <p:pic>
        <p:nvPicPr>
          <p:cNvPr id="33" name="Image 8" descr="/home/claude/icons/coi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87168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58952" y="246888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</a:t>
            </a:r>
            <a:endParaRPr lang="en-US" sz="1050" dirty="0"/>
          </a:p>
        </p:txBody>
      </p:sp>
      <p:sp>
        <p:nvSpPr>
          <p:cNvPr id="35" name="Text 24"/>
          <p:cNvSpPr/>
          <p:nvPr/>
        </p:nvSpPr>
        <p:spPr>
          <a:xfrm>
            <a:off x="457200" y="274320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i="1" dirty="0">
                <a:solidFill>
                  <a:srgbClr val="EDE4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drives spend up</a:t>
            </a:r>
            <a:endParaRPr lang="en-US" sz="700" dirty="0"/>
          </a:p>
        </p:txBody>
      </p:sp>
      <p:sp>
        <p:nvSpPr>
          <p:cNvPr id="36" name="Shape 25"/>
          <p:cNvSpPr/>
          <p:nvPr/>
        </p:nvSpPr>
        <p:spPr>
          <a:xfrm>
            <a:off x="2194560" y="2414016"/>
            <a:ext cx="9674352" cy="566928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pic>
        <p:nvPicPr>
          <p:cNvPr id="37" name="Image 9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496312"/>
            <a:ext cx="118872" cy="11887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2542032" y="2468880"/>
            <a:ext cx="28468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AI models used to cover each risk category</a:t>
            </a:r>
            <a:endParaRPr lang="en-US" sz="760" dirty="0"/>
          </a:p>
        </p:txBody>
      </p:sp>
      <p:pic>
        <p:nvPicPr>
          <p:cNvPr id="39" name="Image 10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304" y="2496312"/>
            <a:ext cx="118872" cy="11887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644896" y="2468880"/>
            <a:ext cx="28468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Re-prompting flagged responses → infinite retry loops</a:t>
            </a:r>
            <a:endParaRPr lang="en-US" sz="760" dirty="0"/>
          </a:p>
        </p:txBody>
      </p:sp>
      <p:pic>
        <p:nvPicPr>
          <p:cNvPr id="41" name="Image 11" descr="/home/claude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168" y="2496312"/>
            <a:ext cx="118872" cy="118872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8747760" y="2468880"/>
            <a:ext cx="28468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verification layers → higher cost &amp; slower AI</a:t>
            </a:r>
            <a:endParaRPr lang="en-US" sz="760" dirty="0"/>
          </a:p>
        </p:txBody>
      </p:sp>
      <p:sp>
        <p:nvSpPr>
          <p:cNvPr id="43" name="Shape 29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44" name="Shape 30"/>
          <p:cNvSpPr/>
          <p:nvPr/>
        </p:nvSpPr>
        <p:spPr>
          <a:xfrm>
            <a:off x="402336" y="3136392"/>
            <a:ext cx="201168" cy="201168"/>
          </a:xfrm>
          <a:prstGeom prst="ellipse">
            <a:avLst/>
          </a:prstGeom>
          <a:solidFill>
            <a:srgbClr val="F0DCB8"/>
          </a:solidFill>
        </p:spPr>
      </p:sp>
      <p:sp>
        <p:nvSpPr>
          <p:cNvPr id="45" name="Text 31"/>
          <p:cNvSpPr/>
          <p:nvPr/>
        </p:nvSpPr>
        <p:spPr>
          <a:xfrm>
            <a:off x="402336" y="313639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32"/>
          <p:cNvSpPr/>
          <p:nvPr/>
        </p:nvSpPr>
        <p:spPr>
          <a:xfrm>
            <a:off x="731520" y="3108960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risk concentrates — highest and lowest exposure by AI population</a:t>
            </a:r>
            <a:endParaRPr lang="en-US" sz="1100" dirty="0"/>
          </a:p>
        </p:txBody>
      </p:sp>
      <p:sp>
        <p:nvSpPr>
          <p:cNvPr id="47" name="Shape 33"/>
          <p:cNvSpPr/>
          <p:nvPr/>
        </p:nvSpPr>
        <p:spPr>
          <a:xfrm>
            <a:off x="320040" y="3438144"/>
            <a:ext cx="367588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0"/>
            </a:solidFill>
            <a:prstDash val="solid"/>
          </a:ln>
          <a:effectLst>
            <a:outerShdw blurRad="508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448056" y="3547872"/>
            <a:ext cx="329184" cy="329184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49" name="Image 12" descr="/home/claude/icons/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" y="3616452"/>
            <a:ext cx="192024" cy="192024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850392" y="3529584"/>
            <a:ext cx="27614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Customer-Facing AI</a:t>
            </a:r>
            <a:endParaRPr lang="en-US" sz="1200" dirty="0"/>
          </a:p>
        </p:txBody>
      </p:sp>
      <p:sp>
        <p:nvSpPr>
          <p:cNvPr id="51" name="Shape 36"/>
          <p:cNvSpPr/>
          <p:nvPr/>
        </p:nvSpPr>
        <p:spPr>
          <a:xfrm>
            <a:off x="3538728" y="3529584"/>
            <a:ext cx="347472" cy="347472"/>
          </a:xfrm>
          <a:prstGeom prst="ellipse">
            <a:avLst/>
          </a:prstGeom>
          <a:solidFill>
            <a:srgbClr val="EDE4FB"/>
          </a:solidFill>
          <a:ln w="6350">
            <a:solidFill>
              <a:srgbClr val="D8D3E0"/>
            </a:solidFill>
            <a:prstDash val="solid"/>
          </a:ln>
        </p:spPr>
      </p:sp>
      <p:pic>
        <p:nvPicPr>
          <p:cNvPr id="52" name="Image 13" descr="/home/claude/icons/usert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8164" y="3584448"/>
            <a:ext cx="228600" cy="228600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457200" y="3950208"/>
            <a:ext cx="3401568" cy="566928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54" name="Image 14" descr="/home/claude/icons/arrow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" y="4023360"/>
            <a:ext cx="173736" cy="173736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758952" y="3995928"/>
            <a:ext cx="30815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DC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RISK:  </a:t>
            </a: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</a:t>
            </a:r>
            <a:endParaRPr lang="en-US" sz="900" dirty="0"/>
          </a:p>
        </p:txBody>
      </p:sp>
      <p:sp>
        <p:nvSpPr>
          <p:cNvPr id="56" name="Text 39"/>
          <p:cNvSpPr/>
          <p:nvPr/>
        </p:nvSpPr>
        <p:spPr>
          <a:xfrm>
            <a:off x="539496" y="4178808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700" dirty="0">
                <a:solidFill>
                  <a:srgbClr val="EDE4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Consumer-facing tone is steered by what the user wants to hear — personalization skew compounds over repeat sessions.</a:t>
            </a:r>
            <a:endParaRPr lang="en-US" sz="700" dirty="0"/>
          </a:p>
        </p:txBody>
      </p:sp>
      <p:sp>
        <p:nvSpPr>
          <p:cNvPr id="57" name="Shape 40"/>
          <p:cNvSpPr/>
          <p:nvPr/>
        </p:nvSpPr>
        <p:spPr>
          <a:xfrm>
            <a:off x="457200" y="4572000"/>
            <a:ext cx="3401568" cy="420624"/>
          </a:xfrm>
          <a:prstGeom prst="rect">
            <a:avLst/>
          </a:prstGeom>
          <a:solidFill>
            <a:srgbClr val="EDE4FB"/>
          </a:solidFill>
          <a:ln w="6350">
            <a:solidFill>
              <a:srgbClr val="D8D3E0"/>
            </a:solidFill>
            <a:prstDash val="solid"/>
          </a:ln>
        </p:spPr>
      </p:sp>
      <p:sp>
        <p:nvSpPr>
          <p:cNvPr id="58" name="Text 41"/>
          <p:cNvSpPr/>
          <p:nvPr/>
        </p:nvSpPr>
        <p:spPr>
          <a:xfrm>
            <a:off x="539496" y="4608576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ALSO ELEVATED:  </a:t>
            </a:r>
            <a:r>
              <a:rPr lang="en-US" sz="8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</a:t>
            </a:r>
            <a:endParaRPr lang="en-US" sz="800" dirty="0"/>
          </a:p>
        </p:txBody>
      </p:sp>
      <p:sp>
        <p:nvSpPr>
          <p:cNvPr id="59" name="Text 42"/>
          <p:cNvSpPr/>
          <p:nvPr/>
        </p:nvSpPr>
        <p:spPr>
          <a:xfrm>
            <a:off x="539496" y="4764024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query volume on products/policies with thin grounding — confidently wrong answers follow close behind bias.</a:t>
            </a:r>
            <a:endParaRPr lang="en-US" sz="680" dirty="0"/>
          </a:p>
        </p:txBody>
      </p:sp>
      <p:sp>
        <p:nvSpPr>
          <p:cNvPr id="60" name="Shape 43"/>
          <p:cNvSpPr/>
          <p:nvPr/>
        </p:nvSpPr>
        <p:spPr>
          <a:xfrm>
            <a:off x="457200" y="5065776"/>
            <a:ext cx="3401568" cy="566928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pic>
        <p:nvPicPr>
          <p:cNvPr id="61" name="Image 15" descr="/home/claude/icons/arrowdow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496" y="5138928"/>
            <a:ext cx="173736" cy="173736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758952" y="5111496"/>
            <a:ext cx="30815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LOWEST RISK:  </a:t>
            </a: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Leaking Data</a:t>
            </a:r>
            <a:endParaRPr lang="en-US" sz="900" dirty="0"/>
          </a:p>
        </p:txBody>
      </p:sp>
      <p:sp>
        <p:nvSpPr>
          <p:cNvPr id="63" name="Text 45"/>
          <p:cNvSpPr/>
          <p:nvPr/>
        </p:nvSpPr>
        <p:spPr>
          <a:xfrm>
            <a:off x="539496" y="5294376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7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Scoped mostly to the customer's own account/session — least exposure to deep organizational secrets.</a:t>
            </a:r>
            <a:endParaRPr lang="en-US" sz="700" dirty="0"/>
          </a:p>
        </p:txBody>
      </p:sp>
      <p:sp>
        <p:nvSpPr>
          <p:cNvPr id="64" name="Shape 46"/>
          <p:cNvSpPr/>
          <p:nvPr/>
        </p:nvSpPr>
        <p:spPr>
          <a:xfrm>
            <a:off x="4114800" y="3438144"/>
            <a:ext cx="367588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0"/>
            </a:solidFill>
            <a:prstDash val="solid"/>
          </a:ln>
          <a:effectLst>
            <a:outerShdw blurRad="508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65" name="Shape 47"/>
          <p:cNvSpPr/>
          <p:nvPr/>
        </p:nvSpPr>
        <p:spPr>
          <a:xfrm>
            <a:off x="4242816" y="3547872"/>
            <a:ext cx="329184" cy="329184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66" name="Image 16" descr="/home/claude/icons/briefc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1396" y="3616452"/>
            <a:ext cx="192024" cy="192024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4645152" y="3529584"/>
            <a:ext cx="27614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Employee AI</a:t>
            </a:r>
            <a:endParaRPr lang="en-US" sz="1200" dirty="0"/>
          </a:p>
        </p:txBody>
      </p:sp>
      <p:sp>
        <p:nvSpPr>
          <p:cNvPr id="68" name="Shape 49"/>
          <p:cNvSpPr/>
          <p:nvPr/>
        </p:nvSpPr>
        <p:spPr>
          <a:xfrm>
            <a:off x="7333488" y="3529584"/>
            <a:ext cx="347472" cy="347472"/>
          </a:xfrm>
          <a:prstGeom prst="ellipse">
            <a:avLst/>
          </a:prstGeom>
          <a:solidFill>
            <a:srgbClr val="EDE4FB"/>
          </a:solidFill>
          <a:ln w="6350">
            <a:solidFill>
              <a:srgbClr val="D8D3E0"/>
            </a:solidFill>
            <a:prstDash val="solid"/>
          </a:ln>
        </p:spPr>
      </p:sp>
      <p:pic>
        <p:nvPicPr>
          <p:cNvPr id="69" name="Image 17" descr="/home/claude/icons/userco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92924" y="3584448"/>
            <a:ext cx="228600" cy="228600"/>
          </a:xfrm>
          <a:prstGeom prst="rect">
            <a:avLst/>
          </a:prstGeom>
        </p:spPr>
      </p:pic>
      <p:sp>
        <p:nvSpPr>
          <p:cNvPr id="70" name="Shape 50"/>
          <p:cNvSpPr/>
          <p:nvPr/>
        </p:nvSpPr>
        <p:spPr>
          <a:xfrm>
            <a:off x="4251960" y="3950208"/>
            <a:ext cx="3401568" cy="566928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71" name="Image 18" descr="/home/claude/icons/arrow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4256" y="4023360"/>
            <a:ext cx="173736" cy="173736"/>
          </a:xfrm>
          <a:prstGeom prst="rect">
            <a:avLst/>
          </a:prstGeom>
        </p:spPr>
      </p:pic>
      <p:sp>
        <p:nvSpPr>
          <p:cNvPr id="72" name="Text 51"/>
          <p:cNvSpPr/>
          <p:nvPr/>
        </p:nvSpPr>
        <p:spPr>
          <a:xfrm>
            <a:off x="4553712" y="3995928"/>
            <a:ext cx="30815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DC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RISK:  </a:t>
            </a: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Leaking Data</a:t>
            </a:r>
            <a:endParaRPr lang="en-US" sz="900" dirty="0"/>
          </a:p>
        </p:txBody>
      </p:sp>
      <p:sp>
        <p:nvSpPr>
          <p:cNvPr id="73" name="Text 52"/>
          <p:cNvSpPr/>
          <p:nvPr/>
        </p:nvSpPr>
        <p:spPr>
          <a:xfrm>
            <a:off x="4334256" y="4178808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700" dirty="0">
                <a:solidFill>
                  <a:srgbClr val="EDE4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 access to internal knowledge bases and confidential docs — easiest path for sensitive info to leave the org.</a:t>
            </a:r>
            <a:endParaRPr lang="en-US" sz="700" dirty="0"/>
          </a:p>
        </p:txBody>
      </p:sp>
      <p:sp>
        <p:nvSpPr>
          <p:cNvPr id="74" name="Shape 53"/>
          <p:cNvSpPr/>
          <p:nvPr/>
        </p:nvSpPr>
        <p:spPr>
          <a:xfrm>
            <a:off x="4251960" y="4572000"/>
            <a:ext cx="3401568" cy="420624"/>
          </a:xfrm>
          <a:prstGeom prst="rect">
            <a:avLst/>
          </a:prstGeom>
          <a:solidFill>
            <a:srgbClr val="EDE4FB"/>
          </a:solidFill>
          <a:ln w="6350">
            <a:solidFill>
              <a:srgbClr val="D8D3E0"/>
            </a:solidFill>
            <a:prstDash val="solid"/>
          </a:ln>
        </p:spPr>
      </p:sp>
      <p:sp>
        <p:nvSpPr>
          <p:cNvPr id="75" name="Text 54"/>
          <p:cNvSpPr/>
          <p:nvPr/>
        </p:nvSpPr>
        <p:spPr>
          <a:xfrm>
            <a:off x="4334256" y="4608576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ALSO ELEVATED:  </a:t>
            </a:r>
            <a:r>
              <a:rPr lang="en-US" sz="8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</a:t>
            </a:r>
            <a:endParaRPr lang="en-US" sz="800" dirty="0"/>
          </a:p>
        </p:txBody>
      </p:sp>
      <p:sp>
        <p:nvSpPr>
          <p:cNvPr id="76" name="Text 55"/>
          <p:cNvSpPr/>
          <p:nvPr/>
        </p:nvSpPr>
        <p:spPr>
          <a:xfrm>
            <a:off x="4334256" y="4764024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Redundant use of inbuilt + standalone tools side-by-side inflates spend across a large employee base.</a:t>
            </a:r>
            <a:endParaRPr lang="en-US" sz="680" dirty="0"/>
          </a:p>
        </p:txBody>
      </p:sp>
      <p:sp>
        <p:nvSpPr>
          <p:cNvPr id="77" name="Shape 56"/>
          <p:cNvSpPr/>
          <p:nvPr/>
        </p:nvSpPr>
        <p:spPr>
          <a:xfrm>
            <a:off x="4251960" y="5065776"/>
            <a:ext cx="3401568" cy="566928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pic>
        <p:nvPicPr>
          <p:cNvPr id="78" name="Image 19" descr="/home/claude/icons/arrowdow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4256" y="5138928"/>
            <a:ext cx="173736" cy="173736"/>
          </a:xfrm>
          <a:prstGeom prst="rect">
            <a:avLst/>
          </a:prstGeom>
        </p:spPr>
      </p:pic>
      <p:sp>
        <p:nvSpPr>
          <p:cNvPr id="79" name="Text 57"/>
          <p:cNvSpPr/>
          <p:nvPr/>
        </p:nvSpPr>
        <p:spPr>
          <a:xfrm>
            <a:off x="4553712" y="5111496"/>
            <a:ext cx="30815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LOWEST RISK:  </a:t>
            </a: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</a:t>
            </a:r>
            <a:endParaRPr lang="en-US" sz="900" dirty="0"/>
          </a:p>
        </p:txBody>
      </p:sp>
      <p:sp>
        <p:nvSpPr>
          <p:cNvPr id="80" name="Text 58"/>
          <p:cNvSpPr/>
          <p:nvPr/>
        </p:nvSpPr>
        <p:spPr>
          <a:xfrm>
            <a:off x="4334256" y="5294376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7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Mostly task-based (docs, code, admin) — less opinion-driven than consumer-facing conversation.</a:t>
            </a:r>
            <a:endParaRPr lang="en-US" sz="700" dirty="0"/>
          </a:p>
        </p:txBody>
      </p:sp>
      <p:sp>
        <p:nvSpPr>
          <p:cNvPr id="81" name="Shape 59"/>
          <p:cNvSpPr/>
          <p:nvPr/>
        </p:nvSpPr>
        <p:spPr>
          <a:xfrm>
            <a:off x="7909560" y="3438144"/>
            <a:ext cx="367588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0"/>
            </a:solidFill>
            <a:prstDash val="solid"/>
          </a:ln>
          <a:effectLst>
            <a:outerShdw blurRad="508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82" name="Shape 60"/>
          <p:cNvSpPr/>
          <p:nvPr/>
        </p:nvSpPr>
        <p:spPr>
          <a:xfrm>
            <a:off x="8037576" y="3547872"/>
            <a:ext cx="329184" cy="329184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83" name="Image 20" descr="/home/claude/icons/shieldal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6156" y="3616452"/>
            <a:ext cx="192024" cy="192024"/>
          </a:xfrm>
          <a:prstGeom prst="rect">
            <a:avLst/>
          </a:prstGeom>
        </p:spPr>
      </p:pic>
      <p:sp>
        <p:nvSpPr>
          <p:cNvPr id="84" name="Text 61"/>
          <p:cNvSpPr/>
          <p:nvPr/>
        </p:nvSpPr>
        <p:spPr>
          <a:xfrm>
            <a:off x="8439912" y="3529584"/>
            <a:ext cx="27614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Regulated Decision-Support</a:t>
            </a:r>
            <a:endParaRPr lang="en-US" sz="1200" dirty="0"/>
          </a:p>
        </p:txBody>
      </p:sp>
      <p:sp>
        <p:nvSpPr>
          <p:cNvPr id="85" name="Shape 62"/>
          <p:cNvSpPr/>
          <p:nvPr/>
        </p:nvSpPr>
        <p:spPr>
          <a:xfrm>
            <a:off x="11128248" y="3529584"/>
            <a:ext cx="347472" cy="347472"/>
          </a:xfrm>
          <a:prstGeom prst="ellipse">
            <a:avLst/>
          </a:prstGeom>
          <a:solidFill>
            <a:srgbClr val="EDE4FB"/>
          </a:solidFill>
          <a:ln w="6350">
            <a:solidFill>
              <a:srgbClr val="D8D3E0"/>
            </a:solidFill>
            <a:prstDash val="solid"/>
          </a:ln>
        </p:spPr>
      </p:sp>
      <p:pic>
        <p:nvPicPr>
          <p:cNvPr id="86" name="Image 21" descr="/home/claude/icons/usershiel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87684" y="3584448"/>
            <a:ext cx="228600" cy="228600"/>
          </a:xfrm>
          <a:prstGeom prst="rect">
            <a:avLst/>
          </a:prstGeom>
        </p:spPr>
      </p:pic>
      <p:sp>
        <p:nvSpPr>
          <p:cNvPr id="87" name="Shape 63"/>
          <p:cNvSpPr/>
          <p:nvPr/>
        </p:nvSpPr>
        <p:spPr>
          <a:xfrm>
            <a:off x="8046720" y="3950208"/>
            <a:ext cx="3401568" cy="566928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88" name="Image 22" descr="/home/claude/icons/arrow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9016" y="4023360"/>
            <a:ext cx="173736" cy="173736"/>
          </a:xfrm>
          <a:prstGeom prst="rect">
            <a:avLst/>
          </a:prstGeom>
        </p:spPr>
      </p:pic>
      <p:sp>
        <p:nvSpPr>
          <p:cNvPr id="89" name="Text 64"/>
          <p:cNvSpPr/>
          <p:nvPr/>
        </p:nvSpPr>
        <p:spPr>
          <a:xfrm>
            <a:off x="8348472" y="3995928"/>
            <a:ext cx="30815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DC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RISK:  </a:t>
            </a: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Leaking Data</a:t>
            </a:r>
            <a:endParaRPr lang="en-US" sz="900" dirty="0"/>
          </a:p>
        </p:txBody>
      </p:sp>
      <p:sp>
        <p:nvSpPr>
          <p:cNvPr id="90" name="Text 65"/>
          <p:cNvSpPr/>
          <p:nvPr/>
        </p:nvSpPr>
        <p:spPr>
          <a:xfrm>
            <a:off x="8129016" y="4178808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700" dirty="0">
                <a:solidFill>
                  <a:srgbClr val="EDE4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Patient, financial &amp; compliance records are the most sensitive data class — highest stakes if exposed.</a:t>
            </a:r>
            <a:endParaRPr lang="en-US" sz="700" dirty="0"/>
          </a:p>
        </p:txBody>
      </p:sp>
      <p:sp>
        <p:nvSpPr>
          <p:cNvPr id="91" name="Shape 66"/>
          <p:cNvSpPr/>
          <p:nvPr/>
        </p:nvSpPr>
        <p:spPr>
          <a:xfrm>
            <a:off x="8046720" y="4572000"/>
            <a:ext cx="3401568" cy="420624"/>
          </a:xfrm>
          <a:prstGeom prst="rect">
            <a:avLst/>
          </a:prstGeom>
          <a:solidFill>
            <a:srgbClr val="EDE4FB"/>
          </a:solidFill>
          <a:ln w="6350">
            <a:solidFill>
              <a:srgbClr val="D8D3E0"/>
            </a:solidFill>
            <a:prstDash val="solid"/>
          </a:ln>
        </p:spPr>
      </p:sp>
      <p:sp>
        <p:nvSpPr>
          <p:cNvPr id="92" name="Text 67"/>
          <p:cNvSpPr/>
          <p:nvPr/>
        </p:nvSpPr>
        <p:spPr>
          <a:xfrm>
            <a:off x="8129016" y="4608576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ALSO ELEVATED:  </a:t>
            </a:r>
            <a:r>
              <a:rPr lang="en-US" sz="8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</a:t>
            </a:r>
            <a:endParaRPr lang="en-US" sz="800" dirty="0"/>
          </a:p>
        </p:txBody>
      </p:sp>
      <p:sp>
        <p:nvSpPr>
          <p:cNvPr id="93" name="Text 68"/>
          <p:cNvSpPr/>
          <p:nvPr/>
        </p:nvSpPr>
        <p:spPr>
          <a:xfrm>
            <a:off x="8129016" y="4764024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Fairness in lending, triage or compliance calls carries real consequences for real people.</a:t>
            </a:r>
            <a:endParaRPr lang="en-US" sz="680" dirty="0"/>
          </a:p>
        </p:txBody>
      </p:sp>
      <p:sp>
        <p:nvSpPr>
          <p:cNvPr id="94" name="Shape 69"/>
          <p:cNvSpPr/>
          <p:nvPr/>
        </p:nvSpPr>
        <p:spPr>
          <a:xfrm>
            <a:off x="8046720" y="5065776"/>
            <a:ext cx="3401568" cy="566928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pic>
        <p:nvPicPr>
          <p:cNvPr id="95" name="Image 23" descr="/home/claude/icons/arrowdow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9016" y="5138928"/>
            <a:ext cx="173736" cy="173736"/>
          </a:xfrm>
          <a:prstGeom prst="rect">
            <a:avLst/>
          </a:prstGeom>
        </p:spPr>
      </p:pic>
      <p:sp>
        <p:nvSpPr>
          <p:cNvPr id="96" name="Text 70"/>
          <p:cNvSpPr/>
          <p:nvPr/>
        </p:nvSpPr>
        <p:spPr>
          <a:xfrm>
            <a:off x="8348472" y="5111496"/>
            <a:ext cx="30815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LOWEST RISK:  </a:t>
            </a: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</a:t>
            </a:r>
            <a:endParaRPr lang="en-US" sz="900" dirty="0"/>
          </a:p>
        </p:txBody>
      </p:sp>
      <p:sp>
        <p:nvSpPr>
          <p:cNvPr id="97" name="Text 71"/>
          <p:cNvSpPr/>
          <p:nvPr/>
        </p:nvSpPr>
        <p:spPr>
          <a:xfrm>
            <a:off x="8129016" y="5294376"/>
            <a:ext cx="32369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7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Vetted, compliance-approved tools are tightly grounded — least prone to confidently-wrong answers.</a:t>
            </a:r>
            <a:endParaRPr lang="en-US" sz="700" dirty="0"/>
          </a:p>
        </p:txBody>
      </p:sp>
      <p:sp>
        <p:nvSpPr>
          <p:cNvPr id="98" name="Shape 72"/>
          <p:cNvSpPr/>
          <p:nvPr/>
        </p:nvSpPr>
        <p:spPr>
          <a:xfrm>
            <a:off x="320040" y="5943600"/>
            <a:ext cx="11548872" cy="384048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99" name="Image 24" descr="/home/claude/icons/bol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912" y="6044184"/>
            <a:ext cx="182880" cy="182880"/>
          </a:xfrm>
          <a:prstGeom prst="rect">
            <a:avLst/>
          </a:prstGeom>
        </p:spPr>
      </p:pic>
      <p:sp>
        <p:nvSpPr>
          <p:cNvPr id="100" name="Text 73"/>
          <p:cNvSpPr/>
          <p:nvPr/>
        </p:nvSpPr>
        <p:spPr>
          <a:xfrm>
            <a:off x="731520" y="5943600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0DC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population shares the same risk fingerprint — Customer-Facing skews toward bias/hallucination, Employee and Regulated AI both skew toward leaking data. ControlPlane Checker must weight its scoped, tiered checks differently per population, not apply one blanket rule.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9533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463040" cy="411480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3" name="Text 1"/>
          <p:cNvSpPr txBox="1"/>
          <p:nvPr/>
        </p:nvSpPr>
        <p:spPr>
          <a:xfrm>
            <a:off x="274320" y="1828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182880"/>
            <a:ext cx="10085832" cy="411480"/>
          </a:xfrm>
          <a:prstGeom prst="rect">
            <a:avLst/>
          </a:prstGeom>
          <a:solidFill>
            <a:srgbClr val="F5F0FC"/>
          </a:solidFill>
        </p:spPr>
      </p:sp>
      <p:sp>
        <p:nvSpPr>
          <p:cNvPr id="5" name="Text 3"/>
          <p:cNvSpPr txBox="1"/>
          <p:nvPr/>
        </p:nvSpPr>
        <p:spPr>
          <a:xfrm>
            <a:off x="1965960" y="18288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ControlPlane.ai — prompt-to-response decision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377440" cy="365760"/>
          </a:xfrm>
          <a:prstGeom prst="rect">
            <a:avLst/>
          </a:prstGeom>
          <a:solidFill>
            <a:srgbClr val="1F1235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" y="777240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= PROMPT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26464" y="1143000"/>
            <a:ext cx="164592" cy="146304"/>
          </a:xfrm>
          <a:prstGeom prst="downArrow">
            <a:avLst/>
          </a:prstGeom>
          <a:solidFill>
            <a:srgbClr val="5B21B6"/>
          </a:solidFill>
        </p:spPr>
      </p:sp>
      <p:sp>
        <p:nvSpPr>
          <p:cNvPr id="9" name="Shape 7"/>
          <p:cNvSpPr/>
          <p:nvPr/>
        </p:nvSpPr>
        <p:spPr>
          <a:xfrm>
            <a:off x="320040" y="1325880"/>
            <a:ext cx="2377440" cy="45720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" y="1325880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ANALYZER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(reads whole prompt)  —  universal checker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1645920"/>
            <a:ext cx="123444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77640" y="1490472"/>
            <a:ext cx="1417320" cy="310896"/>
          </a:xfrm>
          <a:prstGeom prst="rect">
            <a:avLst/>
          </a:prstGeom>
          <a:solidFill>
            <a:srgbClr val="FDF6E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14216" y="1490472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unsafe / illegal in prompt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REJECT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426464" y="1783080"/>
            <a:ext cx="164592" cy="146304"/>
          </a:xfrm>
          <a:prstGeom prst="downArrow">
            <a:avLst/>
          </a:prstGeom>
          <a:solidFill>
            <a:srgbClr val="5B21B6"/>
          </a:solidFill>
        </p:spPr>
      </p:sp>
      <p:sp>
        <p:nvSpPr>
          <p:cNvPr id="15" name="Text 13"/>
          <p:cNvSpPr txBox="1"/>
          <p:nvPr/>
        </p:nvSpPr>
        <p:spPr>
          <a:xfrm>
            <a:off x="320040" y="1947672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 → prompt segments split into categories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2148840"/>
            <a:ext cx="758952" cy="45720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616" y="214884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Factual / Verifiable</a:t>
            </a:r>
            <a:endParaRPr lang="en-US" sz="63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2478024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↳ MD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1133856" y="2148840"/>
            <a:ext cx="758952" cy="45720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70432" y="214884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Opinion / Subjective</a:t>
            </a:r>
            <a:endParaRPr lang="en-US" sz="63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" y="2478024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↳ MD</a:t>
            </a:r>
            <a:endParaRPr lang="en-US" sz="630" dirty="0"/>
          </a:p>
        </p:txBody>
      </p:sp>
      <p:sp>
        <p:nvSpPr>
          <p:cNvPr id="22" name="Shape 20"/>
          <p:cNvSpPr/>
          <p:nvPr/>
        </p:nvSpPr>
        <p:spPr>
          <a:xfrm>
            <a:off x="1947672" y="2148840"/>
            <a:ext cx="758952" cy="45720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984248" y="214884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Prediction</a:t>
            </a:r>
            <a:endParaRPr lang="en-US" sz="630" dirty="0"/>
          </a:p>
        </p:txBody>
      </p:sp>
      <p:sp>
        <p:nvSpPr>
          <p:cNvPr id="24" name="Text 22"/>
          <p:cNvSpPr txBox="1"/>
          <p:nvPr/>
        </p:nvSpPr>
        <p:spPr>
          <a:xfrm>
            <a:off x="1947672" y="2478024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↳ MD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320040" y="2660904"/>
            <a:ext cx="758952" cy="45720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6616" y="2660904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Recommendation / Advice</a:t>
            </a:r>
            <a:endParaRPr lang="en-US" sz="63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2990088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↳ MD</a:t>
            </a:r>
            <a:endParaRPr lang="en-US" sz="630" dirty="0"/>
          </a:p>
        </p:txBody>
      </p:sp>
      <p:sp>
        <p:nvSpPr>
          <p:cNvPr id="28" name="Shape 26"/>
          <p:cNvSpPr/>
          <p:nvPr/>
        </p:nvSpPr>
        <p:spPr>
          <a:xfrm>
            <a:off x="1133856" y="2660904"/>
            <a:ext cx="758952" cy="45720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70432" y="2660904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⑤ Instruction / Command</a:t>
            </a:r>
            <a:endParaRPr lang="en-US" sz="63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" y="2990088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↳ MD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1947672" y="2660904"/>
            <a:ext cx="758952" cy="45720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84248" y="2660904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⑥ Creative / Persona</a:t>
            </a:r>
            <a:endParaRPr lang="en-US" sz="630" dirty="0"/>
          </a:p>
        </p:txBody>
      </p:sp>
      <p:sp>
        <p:nvSpPr>
          <p:cNvPr id="33" name="Text 31"/>
          <p:cNvSpPr txBox="1"/>
          <p:nvPr/>
        </p:nvSpPr>
        <p:spPr>
          <a:xfrm>
            <a:off x="1947672" y="2990088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↳ MD</a:t>
            </a:r>
            <a:endParaRPr lang="en-US" sz="630" dirty="0"/>
          </a:p>
        </p:txBody>
      </p:sp>
      <p:sp>
        <p:nvSpPr>
          <p:cNvPr id="34" name="Shape 32"/>
          <p:cNvSpPr/>
          <p:nvPr/>
        </p:nvSpPr>
        <p:spPr>
          <a:xfrm>
            <a:off x="320040" y="3227832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6616" y="3227832"/>
            <a:ext cx="23042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MD (missing data) →</a:t>
            </a:r>
            <a:endParaRPr lang="en-US" sz="6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prompt + added instruction to Core AI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320040" y="3611880"/>
            <a:ext cx="2377440" cy="310896"/>
          </a:xfrm>
          <a:prstGeom prst="rect">
            <a:avLst/>
          </a:prstGeom>
          <a:solidFill>
            <a:srgbClr val="FDF6E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6616" y="3611880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data or illegal request</a:t>
            </a:r>
            <a:endParaRPr lang="en-US" sz="6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 mid-segment  →  REJECT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5577840" y="777240"/>
            <a:ext cx="2194560" cy="365760"/>
          </a:xfrm>
          <a:prstGeom prst="rect">
            <a:avLst/>
          </a:prstGeom>
          <a:solidFill>
            <a:srgbClr val="1F1235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14416" y="777240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AI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577840" y="1161288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responds per segment + instruction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592824" y="1344168"/>
            <a:ext cx="164592" cy="146304"/>
          </a:xfrm>
          <a:prstGeom prst="downArrow">
            <a:avLst/>
          </a:prstGeom>
          <a:solidFill>
            <a:srgbClr val="5B21B6"/>
          </a:solidFill>
        </p:spPr>
      </p:sp>
      <p:sp>
        <p:nvSpPr>
          <p:cNvPr id="42" name="Shape 40"/>
          <p:cNvSpPr/>
          <p:nvPr/>
        </p:nvSpPr>
        <p:spPr>
          <a:xfrm>
            <a:off x="5577840" y="1527048"/>
            <a:ext cx="2194560" cy="384048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14416" y="1527048"/>
            <a:ext cx="21214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CHECKER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(universal checker — priority 1)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772400" y="1773936"/>
            <a:ext cx="91440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732520" y="1618488"/>
            <a:ext cx="1371600" cy="310896"/>
          </a:xfrm>
          <a:prstGeom prst="rect">
            <a:avLst/>
          </a:prstGeom>
          <a:solidFill>
            <a:srgbClr val="FDF6E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769096" y="1618488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unsafe / illegal intent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response  →  REJECT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592824" y="1911096"/>
            <a:ext cx="164592" cy="146304"/>
          </a:xfrm>
          <a:prstGeom prst="downArrow">
            <a:avLst/>
          </a:prstGeom>
          <a:solidFill>
            <a:srgbClr val="5B21B6"/>
          </a:solidFill>
        </p:spPr>
      </p:sp>
      <p:sp>
        <p:nvSpPr>
          <p:cNvPr id="48" name="Shape 46"/>
          <p:cNvSpPr/>
          <p:nvPr/>
        </p:nvSpPr>
        <p:spPr>
          <a:xfrm>
            <a:off x="5577840" y="2093976"/>
            <a:ext cx="2194560" cy="36576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614416" y="209397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Wrong response</a:t>
            </a:r>
            <a:endParaRPr lang="en-US" sz="7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EDIT</a:t>
            </a:r>
            <a:endParaRPr lang="en-US" sz="730" dirty="0"/>
          </a:p>
        </p:txBody>
      </p:sp>
      <p:sp>
        <p:nvSpPr>
          <p:cNvPr id="50" name="Shape 48"/>
          <p:cNvSpPr/>
          <p:nvPr/>
        </p:nvSpPr>
        <p:spPr>
          <a:xfrm>
            <a:off x="6611112" y="2459736"/>
            <a:ext cx="128016" cy="91440"/>
          </a:xfrm>
          <a:prstGeom prst="downArrow">
            <a:avLst/>
          </a:prstGeom>
          <a:solidFill>
            <a:srgbClr val="5B21B6"/>
          </a:solidFill>
        </p:spPr>
      </p:sp>
      <p:sp>
        <p:nvSpPr>
          <p:cNvPr id="51" name="Shape 49"/>
          <p:cNvSpPr/>
          <p:nvPr/>
        </p:nvSpPr>
        <p:spPr>
          <a:xfrm>
            <a:off x="5577840" y="2569464"/>
            <a:ext cx="2194560" cy="36576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614416" y="2569464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Bias (“biasness”)</a:t>
            </a:r>
            <a:endParaRPr lang="en-US" sz="7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EDIT — annotated, dual-window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6611112" y="2935224"/>
            <a:ext cx="128016" cy="91440"/>
          </a:xfrm>
          <a:prstGeom prst="downArrow">
            <a:avLst/>
          </a:prstGeom>
          <a:solidFill>
            <a:srgbClr val="5B21B6"/>
          </a:solidFill>
        </p:spPr>
      </p:sp>
      <p:sp>
        <p:nvSpPr>
          <p:cNvPr id="54" name="Shape 52"/>
          <p:cNvSpPr/>
          <p:nvPr/>
        </p:nvSpPr>
        <p:spPr>
          <a:xfrm>
            <a:off x="5577840" y="3044952"/>
            <a:ext cx="2194560" cy="36576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14416" y="3044952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Hallucination</a:t>
            </a:r>
            <a:endParaRPr lang="en-US" sz="7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EDIT — shown with warning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6611112" y="3410712"/>
            <a:ext cx="128016" cy="91440"/>
          </a:xfrm>
          <a:prstGeom prst="downArrow">
            <a:avLst/>
          </a:prstGeom>
          <a:solidFill>
            <a:srgbClr val="5B21B6"/>
          </a:solidFill>
        </p:spPr>
      </p:sp>
      <p:sp>
        <p:nvSpPr>
          <p:cNvPr id="57" name="Shape 55"/>
          <p:cNvSpPr/>
          <p:nvPr/>
        </p:nvSpPr>
        <p:spPr>
          <a:xfrm>
            <a:off x="5577840" y="3520440"/>
            <a:ext cx="2194560" cy="36576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614416" y="3520440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Leaking data</a:t>
            </a:r>
            <a:endParaRPr lang="en-US" sz="7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REJECT</a:t>
            </a:r>
            <a:endParaRPr lang="en-US" sz="730" dirty="0"/>
          </a:p>
        </p:txBody>
      </p:sp>
      <p:sp>
        <p:nvSpPr>
          <p:cNvPr id="59" name="Shape 57"/>
          <p:cNvSpPr/>
          <p:nvPr/>
        </p:nvSpPr>
        <p:spPr>
          <a:xfrm>
            <a:off x="8321040" y="777240"/>
            <a:ext cx="1920240" cy="365760"/>
          </a:xfrm>
          <a:prstGeom prst="rect">
            <a:avLst/>
          </a:prstGeom>
          <a:solidFill>
            <a:srgbClr val="1F1235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357616" y="777240"/>
            <a:ext cx="18470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ROUTER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321040" y="1280160"/>
            <a:ext cx="1920240" cy="822960"/>
          </a:xfrm>
          <a:prstGeom prst="rect">
            <a:avLst/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357616" y="1280160"/>
            <a:ext cx="184708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 →  ships as-is</a:t>
            </a:r>
            <a:endParaRPr lang="en-US" sz="730" dirty="0"/>
          </a:p>
          <a:p>
            <a:pPr marL="0" indent="0" algn="ctr">
              <a:lnSpc>
                <a:spcPct val="100000"/>
              </a:lnSpc>
              <a:buNone/>
            </a:pPr>
            <a:endParaRPr lang="en-US" sz="7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 →  annotated / dual-window</a:t>
            </a:r>
            <a:endParaRPr lang="en-US" sz="730" dirty="0"/>
          </a:p>
          <a:p>
            <a:pPr marL="0" indent="0" algn="ctr">
              <a:lnSpc>
                <a:spcPct val="100000"/>
              </a:lnSpc>
              <a:buNone/>
            </a:pPr>
            <a:endParaRPr lang="en-US" sz="7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  →  hard stop, decline message</a:t>
            </a:r>
            <a:endParaRPr lang="en-US" sz="730" dirty="0"/>
          </a:p>
        </p:txBody>
      </p:sp>
      <p:sp>
        <p:nvSpPr>
          <p:cNvPr id="63" name="Shape 61"/>
          <p:cNvSpPr/>
          <p:nvPr/>
        </p:nvSpPr>
        <p:spPr>
          <a:xfrm>
            <a:off x="8321040" y="2240280"/>
            <a:ext cx="1920240" cy="502920"/>
          </a:xfrm>
          <a:prstGeom prst="rect">
            <a:avLst/>
          </a:prstGeom>
          <a:solidFill>
            <a:srgbClr val="1F1235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357616" y="2240280"/>
            <a:ext cx="18470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HUMAN-IN-THE-LOOP</a:t>
            </a:r>
            <a:endParaRPr lang="en-US" sz="6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reviews Escalated / overridden cases; decision logged with audit trail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8321040" y="2862072"/>
            <a:ext cx="1920240" cy="502920"/>
          </a:xfrm>
          <a:prstGeom prst="rect">
            <a:avLst/>
          </a:prstGeom>
          <a:solidFill>
            <a:srgbClr val="FDF6E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375904" y="2862072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LOOP: every reviewer decision retrains classifier thresholds in Prompt Analyzer &amp; Response Checker</a:t>
            </a:r>
            <a:endParaRPr lang="en-US" sz="660" dirty="0"/>
          </a:p>
        </p:txBody>
      </p:sp>
      <p:sp>
        <p:nvSpPr>
          <p:cNvPr id="67" name="Shape 65"/>
          <p:cNvSpPr/>
          <p:nvPr/>
        </p:nvSpPr>
        <p:spPr>
          <a:xfrm>
            <a:off x="6675120" y="3886200"/>
            <a:ext cx="0" cy="32004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4206240"/>
            <a:ext cx="2606040" cy="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81160" y="2103120"/>
            <a:ext cx="0" cy="2103120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  <a:tailEnd type="triangle"/>
          </a:ln>
        </p:spPr>
      </p:sp>
      <p:sp>
        <p:nvSpPr>
          <p:cNvPr id="70" name="Text 68"/>
          <p:cNvSpPr txBox="1"/>
          <p:nvPr/>
        </p:nvSpPr>
        <p:spPr>
          <a:xfrm>
            <a:off x="320040" y="3995928"/>
            <a:ext cx="27432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Legend:  MD = missing data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9281160" y="3364992"/>
            <a:ext cx="0" cy="969264"/>
          </a:xfrm>
          <a:prstGeom prst="line">
            <a:avLst/>
          </a:prstGeom>
          <a:noFill/>
          <a:ln w="15875">
            <a:solidFill>
              <a:srgbClr val="5B21B6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1508760" y="4334256"/>
            <a:ext cx="7772400" cy="0"/>
          </a:xfrm>
          <a:prstGeom prst="line">
            <a:avLst/>
          </a:prstGeom>
          <a:noFill/>
          <a:ln w="15875">
            <a:solidFill>
              <a:srgbClr val="5B21B6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1508760" y="4014216"/>
            <a:ext cx="0" cy="320040"/>
          </a:xfrm>
          <a:prstGeom prst="line">
            <a:avLst/>
          </a:prstGeom>
          <a:noFill/>
          <a:ln w="15875">
            <a:solidFill>
              <a:srgbClr val="5B21B6"/>
            </a:solidFill>
            <a:prstDash val="dash"/>
            <a:tailEnd type="triangle"/>
          </a:ln>
        </p:spPr>
      </p:sp>
      <p:sp>
        <p:nvSpPr>
          <p:cNvPr id="74" name="Text 72"/>
          <p:cNvSpPr txBox="1"/>
          <p:nvPr/>
        </p:nvSpPr>
        <p:spPr>
          <a:xfrm>
            <a:off x="320040" y="437997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loop — retrains both checkers' thresholds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20040" y="4837176"/>
            <a:ext cx="9921240" cy="457200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76" name="Text 74"/>
          <p:cNvSpPr txBox="1"/>
          <p:nvPr/>
        </p:nvSpPr>
        <p:spPr>
          <a:xfrm>
            <a:off x="502920" y="4837176"/>
            <a:ext cx="9555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Both layers fork the same way — screen, classify, act — and every escalation or override is logged and fed back, sharpening the checkers over time.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68024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512064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920240" y="256032"/>
            <a:ext cx="9905695" cy="512064"/>
          </a:xfrm>
          <a:prstGeom prst="roundRect">
            <a:avLst>
              <a:gd name="adj" fmla="val 10714"/>
            </a:avLst>
          </a:prstGeom>
          <a:solidFill>
            <a:srgbClr val="EDE4FB"/>
          </a:solidFill>
        </p:spPr>
      </p:sp>
      <p:sp>
        <p:nvSpPr>
          <p:cNvPr id="5" name="Text 3"/>
          <p:cNvSpPr txBox="1"/>
          <p:nvPr/>
        </p:nvSpPr>
        <p:spPr>
          <a:xfrm>
            <a:off x="2057400" y="256032"/>
            <a:ext cx="963137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ControlPlane.ai — core mechanism: a two-layer AI checker wrapped around every response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Analyzer screens intent before generation; Response Checker re-verifies after — every step shown to the user, nothing ships untracked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7040880" cy="914400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7" name="Image 0" descr="/home/claude/icon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10789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INSIGHT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61872"/>
            <a:ext cx="67665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prompt runs through two independent AI layers that never trust each other, screening intent before the Core AI answers and verifying the output before a user ever sees it — with every check, tag and decision surfaced, not hidden in a black box.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516368" y="1005840"/>
            <a:ext cx="4309567" cy="914400"/>
          </a:xfrm>
          <a:prstGeom prst="rect">
            <a:avLst/>
          </a:prstGeom>
          <a:solidFill>
            <a:srgbClr val="5B21B6"/>
          </a:solidFill>
        </p:spPr>
      </p:sp>
      <p:sp>
        <p:nvSpPr>
          <p:cNvPr id="11" name="Text 8"/>
          <p:cNvSpPr txBox="1"/>
          <p:nvPr/>
        </p:nvSpPr>
        <p:spPr>
          <a:xfrm>
            <a:off x="7653528" y="1078992"/>
            <a:ext cx="403524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DE4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MATTERS NOW</a:t>
            </a:r>
            <a:endParaRPr lang="en-US" sz="850" dirty="0"/>
          </a:p>
        </p:txBody>
      </p:sp>
      <p:pic>
        <p:nvPicPr>
          <p:cNvPr id="12" name="Image 1" descr="/home/claude/icons/tre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38988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1316736"/>
            <a:ext cx="377921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233 → 362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909560" y="1545336"/>
            <a:ext cx="3852367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documented AI incidents, 2024→2025 (Stanford HAI 2026 AI Index)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65760" y="2212848"/>
            <a:ext cx="2057949" cy="1554480"/>
          </a:xfrm>
          <a:prstGeom prst="roundRect">
            <a:avLst>
              <a:gd name="adj" fmla="val 4706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11270" y="2432304"/>
            <a:ext cx="566928" cy="566928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17" name="Image 2" descr="/home/claude/icons/messa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430" y="256946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8912" y="3108960"/>
            <a:ext cx="191164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Prompt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419856"/>
            <a:ext cx="1875069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Multi-segment, mixed intent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2423709" y="2212848"/>
            <a:ext cx="292608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2716317" y="2212848"/>
            <a:ext cx="2057949" cy="1554480"/>
          </a:xfrm>
          <a:prstGeom prst="roundRect">
            <a:avLst>
              <a:gd name="adj" fmla="val 4706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61827" y="2432304"/>
            <a:ext cx="566928" cy="566928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23" name="Image 3" descr="/home/claude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8987" y="256946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789469" y="3108960"/>
            <a:ext cx="191164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Analyzer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2807757" y="3419856"/>
            <a:ext cx="1875069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gate + 6-way tagging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4774265" y="2212848"/>
            <a:ext cx="292608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5066873" y="2212848"/>
            <a:ext cx="2057949" cy="1554480"/>
          </a:xfrm>
          <a:prstGeom prst="roundRect">
            <a:avLst>
              <a:gd name="adj" fmla="val 4706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812384" y="2432304"/>
            <a:ext cx="566928" cy="566928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29" name="Image 4" descr="/home/claude/icons/cpu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9544" y="2569464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140025" y="3108960"/>
            <a:ext cx="191164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AI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158313" y="3419856"/>
            <a:ext cx="1875069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Responds per segment + instruction</a:t>
            </a:r>
            <a:endParaRPr lang="en-US" sz="800" dirty="0"/>
          </a:p>
        </p:txBody>
      </p:sp>
      <p:sp>
        <p:nvSpPr>
          <p:cNvPr id="32" name="Text 25"/>
          <p:cNvSpPr txBox="1"/>
          <p:nvPr/>
        </p:nvSpPr>
        <p:spPr>
          <a:xfrm>
            <a:off x="7124822" y="2212848"/>
            <a:ext cx="292608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26"/>
          <p:cNvSpPr/>
          <p:nvPr/>
        </p:nvSpPr>
        <p:spPr>
          <a:xfrm>
            <a:off x="7417430" y="2212848"/>
            <a:ext cx="2057949" cy="1554480"/>
          </a:xfrm>
          <a:prstGeom prst="roundRect">
            <a:avLst>
              <a:gd name="adj" fmla="val 4706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162940" y="2432304"/>
            <a:ext cx="566928" cy="566928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35" name="Image 5" descr="/home/claude/icons/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0100" y="2569464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490582" y="3108960"/>
            <a:ext cx="191164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Checker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7508870" y="3419856"/>
            <a:ext cx="1875069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Universal net + scoped checks</a:t>
            </a:r>
            <a:endParaRPr lang="en-US" sz="800" dirty="0"/>
          </a:p>
        </p:txBody>
      </p:sp>
      <p:sp>
        <p:nvSpPr>
          <p:cNvPr id="38" name="Text 30"/>
          <p:cNvSpPr txBox="1"/>
          <p:nvPr/>
        </p:nvSpPr>
        <p:spPr>
          <a:xfrm>
            <a:off x="9475379" y="2212848"/>
            <a:ext cx="292608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1"/>
          <p:cNvSpPr/>
          <p:nvPr/>
        </p:nvSpPr>
        <p:spPr>
          <a:xfrm>
            <a:off x="9767987" y="2212848"/>
            <a:ext cx="2057949" cy="1554480"/>
          </a:xfrm>
          <a:prstGeom prst="roundRect">
            <a:avLst>
              <a:gd name="adj" fmla="val 4706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10513497" y="2432304"/>
            <a:ext cx="566928" cy="566928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41" name="Image 6" descr="/home/claude/icons/shar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0657" y="2569464"/>
            <a:ext cx="292608" cy="29260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841139" y="3108960"/>
            <a:ext cx="191164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Router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9859427" y="3419856"/>
            <a:ext cx="1875069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/ Edit / Reject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2716317" y="3986784"/>
            <a:ext cx="4408505" cy="658368"/>
          </a:xfrm>
          <a:prstGeom prst="roundRect">
            <a:avLst>
              <a:gd name="adj" fmla="val 8333"/>
            </a:avLst>
          </a:prstGeom>
          <a:solidFill>
            <a:srgbClr val="FDF6EC"/>
          </a:solidFill>
          <a:ln w="12700">
            <a:solidFill>
              <a:srgbClr val="F0DCB8"/>
            </a:solidFill>
            <a:prstDash val="solid"/>
          </a:ln>
        </p:spPr>
      </p:sp>
      <p:pic>
        <p:nvPicPr>
          <p:cNvPr id="45" name="Image 7" descr="/home/claude/icons/alert_amb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4333" y="4197096"/>
            <a:ext cx="237744" cy="237744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3155229" y="3986784"/>
            <a:ext cx="3823289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Fast-path for unsafe / illegal segments:  </a:t>
            </a:r>
            <a:r>
              <a:rPr lang="en-US" sz="9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flagged on intent (not just keywords), shown to the user, sent straight to Core AI for a refusal — classification skipped.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7417430" y="3986784"/>
            <a:ext cx="4408505" cy="658368"/>
          </a:xfrm>
          <a:prstGeom prst="roundRect">
            <a:avLst>
              <a:gd name="adj" fmla="val 8333"/>
            </a:avLst>
          </a:prstGeom>
          <a:solidFill>
            <a:srgbClr val="EDE4FB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7554590" y="3986784"/>
            <a:ext cx="413418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</a:t>
            </a: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ships as-is   |   </a:t>
            </a:r>
            <a:r>
              <a:rPr lang="en-US" sz="8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</a:t>
            </a: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annotated / dual-window   |   </a:t>
            </a:r>
            <a:r>
              <a:rPr lang="en-US" sz="8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 </a:t>
            </a: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stop, decline message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365760" y="4864608"/>
            <a:ext cx="237744" cy="237744"/>
          </a:xfrm>
          <a:prstGeom prst="ellipse">
            <a:avLst/>
          </a:prstGeom>
          <a:solidFill>
            <a:srgbClr val="1F1235"/>
          </a:solidFill>
        </p:spPr>
      </p:sp>
      <p:sp>
        <p:nvSpPr>
          <p:cNvPr id="50" name="Text 40"/>
          <p:cNvSpPr txBox="1"/>
          <p:nvPr/>
        </p:nvSpPr>
        <p:spPr>
          <a:xfrm>
            <a:off x="365760" y="486460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41"/>
          <p:cNvSpPr/>
          <p:nvPr/>
        </p:nvSpPr>
        <p:spPr>
          <a:xfrm>
            <a:off x="676656" y="4864608"/>
            <a:ext cx="11149279" cy="237744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52" name="Text 42"/>
          <p:cNvSpPr txBox="1"/>
          <p:nvPr/>
        </p:nvSpPr>
        <p:spPr>
          <a:xfrm>
            <a:off x="822960" y="4864608"/>
            <a:ext cx="1100297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layers, one shared design principle — screen before generation, verify after</a:t>
            </a:r>
            <a:endParaRPr lang="en-US" sz="1150" dirty="0"/>
          </a:p>
        </p:txBody>
      </p:sp>
      <p:sp>
        <p:nvSpPr>
          <p:cNvPr id="53" name="Shape 43"/>
          <p:cNvSpPr/>
          <p:nvPr/>
        </p:nvSpPr>
        <p:spPr>
          <a:xfrm>
            <a:off x="365760" y="5212080"/>
            <a:ext cx="5638648" cy="841248"/>
          </a:xfrm>
          <a:prstGeom prst="roundRect">
            <a:avLst>
              <a:gd name="adj" fmla="val 6522"/>
            </a:avLst>
          </a:prstGeom>
          <a:solidFill>
            <a:srgbClr val="F5F0FC"/>
          </a:solidFill>
        </p:spPr>
      </p:sp>
      <p:sp>
        <p:nvSpPr>
          <p:cNvPr id="54" name="Text 44"/>
          <p:cNvSpPr txBox="1"/>
          <p:nvPr/>
        </p:nvSpPr>
        <p:spPr>
          <a:xfrm>
            <a:off x="502920" y="5212080"/>
            <a:ext cx="536432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Analyzer (before):  </a:t>
            </a:r>
            <a:r>
              <a:rPr lang="en-US" sz="85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the whole prompt, checks every segment for unsafe intent, classifies safe segments into up to 6 categories, and resolves Wrong Prompt / Missing Data itself with an explicit instruction to Core AI.</a:t>
            </a:r>
            <a:endParaRPr lang="en-US" sz="850" dirty="0"/>
          </a:p>
        </p:txBody>
      </p:sp>
      <p:sp>
        <p:nvSpPr>
          <p:cNvPr id="55" name="Shape 45"/>
          <p:cNvSpPr/>
          <p:nvPr/>
        </p:nvSpPr>
        <p:spPr>
          <a:xfrm>
            <a:off x="6187288" y="5212080"/>
            <a:ext cx="5638648" cy="841248"/>
          </a:xfrm>
          <a:prstGeom prst="roundRect">
            <a:avLst>
              <a:gd name="adj" fmla="val 6522"/>
            </a:avLst>
          </a:prstGeom>
          <a:solidFill>
            <a:srgbClr val="F5F0FC"/>
          </a:solidFill>
        </p:spPr>
      </p:sp>
      <p:sp>
        <p:nvSpPr>
          <p:cNvPr id="56" name="Text 46"/>
          <p:cNvSpPr txBox="1"/>
          <p:nvPr/>
        </p:nvSpPr>
        <p:spPr>
          <a:xfrm>
            <a:off x="6324448" y="5212080"/>
            <a:ext cx="536432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Checker (after):  </a:t>
            </a:r>
            <a:r>
              <a:rPr lang="en-US" sz="85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re-screens the response for unsafe content, then checks only the tags that segment's category carries, and lands each response in Escalate, Edit or Reject — tags checked/crossed shown to the user.</a:t>
            </a:r>
            <a:endParaRPr lang="en-US" sz="850" dirty="0"/>
          </a:p>
        </p:txBody>
      </p:sp>
      <p:sp>
        <p:nvSpPr>
          <p:cNvPr id="57" name="Shape 47"/>
          <p:cNvSpPr/>
          <p:nvPr/>
        </p:nvSpPr>
        <p:spPr>
          <a:xfrm>
            <a:off x="365760" y="6254496"/>
            <a:ext cx="11460175" cy="384048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58" name="Image 8" descr="/home/claude/icons/flag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" y="6336792"/>
            <a:ext cx="219456" cy="219456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786384" y="6254496"/>
            <a:ext cx="1091153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Screening before generation catches unsafe intent early and cheaply; verifying after generation catches what generation itself introduces — hallucination, bias, leakage. Neither layer alone closes the loop.</a:t>
            </a:r>
            <a:endParaRPr lang="en-US" sz="1050" dirty="0"/>
          </a:p>
        </p:txBody>
      </p:sp>
      <p:sp>
        <p:nvSpPr>
          <p:cNvPr id="60" name="Text 49"/>
          <p:cNvSpPr txBox="1"/>
          <p:nvPr/>
        </p:nvSpPr>
        <p:spPr>
          <a:xfrm>
            <a:off x="365760" y="6656832"/>
            <a:ext cx="11460175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OWASP Top 10 for LLM Applications 2025 (Prompt Injection, #1 risk) · Stanford HAI 2026 AI Index Report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237702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512064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920240" y="256032"/>
            <a:ext cx="9905695" cy="512064"/>
          </a:xfrm>
          <a:prstGeom prst="roundRect">
            <a:avLst>
              <a:gd name="adj" fmla="val 10714"/>
            </a:avLst>
          </a:prstGeom>
          <a:solidFill>
            <a:srgbClr val="EDE4FB"/>
          </a:solidFill>
        </p:spPr>
      </p:sp>
      <p:sp>
        <p:nvSpPr>
          <p:cNvPr id="5" name="Text 3"/>
          <p:cNvSpPr txBox="1"/>
          <p:nvPr/>
        </p:nvSpPr>
        <p:spPr>
          <a:xfrm>
            <a:off x="2057400" y="256032"/>
            <a:ext cx="963137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technique follows the risk — six intent categories, scoped tag checks, then a graded decision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1 classifies and tags every safe segment; Layer 2 verifies only those tags and routes to Escalate, Edit or Reject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237744" cy="237744"/>
          </a:xfrm>
          <a:prstGeom prst="ellipse">
            <a:avLst/>
          </a:prstGeom>
          <a:solidFill>
            <a:srgbClr val="1F1235"/>
          </a:solidFill>
        </p:spPr>
      </p:sp>
      <p:sp>
        <p:nvSpPr>
          <p:cNvPr id="7" name="Text 5"/>
          <p:cNvSpPr txBox="1"/>
          <p:nvPr/>
        </p:nvSpPr>
        <p:spPr>
          <a:xfrm>
            <a:off x="365760" y="104241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6656" y="1042416"/>
            <a:ext cx="11149279" cy="237744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9" name="Text 7"/>
          <p:cNvSpPr txBox="1"/>
          <p:nvPr/>
        </p:nvSpPr>
        <p:spPr>
          <a:xfrm>
            <a:off x="822960" y="1042416"/>
            <a:ext cx="1100297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1 — Prompt Analyzer sorts every safe segment into up to 6 intent categories, each with its own risk tags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408176"/>
            <a:ext cx="1803349" cy="1417320"/>
          </a:xfrm>
          <a:prstGeom prst="roundRect">
            <a:avLst>
              <a:gd name="adj" fmla="val 3871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7979" y="1572768"/>
            <a:ext cx="438912" cy="438912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12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563" y="167335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11480" y="2066544"/>
            <a:ext cx="171190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Factual /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Verifiable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20624" y="2505456"/>
            <a:ext cx="1693621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 Prompt · Missing Data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2297125" y="1408176"/>
            <a:ext cx="1803349" cy="1417320"/>
          </a:xfrm>
          <a:prstGeom prst="roundRect">
            <a:avLst>
              <a:gd name="adj" fmla="val 3871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79344" y="1572768"/>
            <a:ext cx="438912" cy="438912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17" name="Image 1" descr="/home/claude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928" y="1673352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342845" y="2066544"/>
            <a:ext cx="171190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Opinion /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Subjective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2351989" y="2505456"/>
            <a:ext cx="1693621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 · Missing Data · Hallucination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4228490" y="1408176"/>
            <a:ext cx="1803349" cy="1417320"/>
          </a:xfrm>
          <a:prstGeom prst="roundRect">
            <a:avLst>
              <a:gd name="adj" fmla="val 3871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910709" y="1572768"/>
            <a:ext cx="438912" cy="438912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22" name="Image 2" descr="/home/claude/icons/tre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1293" y="167335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274210" y="2066544"/>
            <a:ext cx="171190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4283354" y="2505456"/>
            <a:ext cx="1693621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 · Bias</a:t>
            </a:r>
            <a:endParaRPr lang="en-US" sz="700" dirty="0"/>
          </a:p>
        </p:txBody>
      </p:sp>
      <p:sp>
        <p:nvSpPr>
          <p:cNvPr id="25" name="Shape 20"/>
          <p:cNvSpPr/>
          <p:nvPr/>
        </p:nvSpPr>
        <p:spPr>
          <a:xfrm>
            <a:off x="6159856" y="1408176"/>
            <a:ext cx="1803349" cy="1417320"/>
          </a:xfrm>
          <a:prstGeom prst="roundRect">
            <a:avLst>
              <a:gd name="adj" fmla="val 3871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42074" y="1572768"/>
            <a:ext cx="438912" cy="438912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27" name="Image 3" descr="/home/claude/icons/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658" y="1673352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205576" y="2066544"/>
            <a:ext cx="171190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 Advice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6214720" y="2505456"/>
            <a:ext cx="1693621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</a:t>
            </a:r>
            <a:endParaRPr lang="en-US" sz="700" dirty="0"/>
          </a:p>
        </p:txBody>
      </p:sp>
      <p:sp>
        <p:nvSpPr>
          <p:cNvPr id="30" name="Shape 24"/>
          <p:cNvSpPr/>
          <p:nvPr/>
        </p:nvSpPr>
        <p:spPr>
          <a:xfrm>
            <a:off x="8091221" y="1408176"/>
            <a:ext cx="1803349" cy="1417320"/>
          </a:xfrm>
          <a:prstGeom prst="roundRect">
            <a:avLst>
              <a:gd name="adj" fmla="val 3871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773439" y="1572768"/>
            <a:ext cx="438912" cy="438912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32" name="Image 4" descr="/home/claude/icons/filt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4023" y="1673352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136941" y="2066544"/>
            <a:ext cx="171190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Instruction /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8146085" y="2505456"/>
            <a:ext cx="1693621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Data</a:t>
            </a:r>
            <a:endParaRPr lang="en-US" sz="700" dirty="0"/>
          </a:p>
        </p:txBody>
      </p:sp>
      <p:sp>
        <p:nvSpPr>
          <p:cNvPr id="35" name="Shape 28"/>
          <p:cNvSpPr/>
          <p:nvPr/>
        </p:nvSpPr>
        <p:spPr>
          <a:xfrm>
            <a:off x="10022586" y="1408176"/>
            <a:ext cx="1803349" cy="1417320"/>
          </a:xfrm>
          <a:prstGeom prst="roundRect">
            <a:avLst>
              <a:gd name="adj" fmla="val 3871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704805" y="1572768"/>
            <a:ext cx="438912" cy="438912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37" name="Image 5" descr="/home/claude/icons/lo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5389" y="1673352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068306" y="2066544"/>
            <a:ext cx="171190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</a:t>
            </a:r>
            <a:endParaRPr lang="en-US" sz="950" dirty="0"/>
          </a:p>
        </p:txBody>
      </p:sp>
      <p:sp>
        <p:nvSpPr>
          <p:cNvPr id="39" name="Text 31"/>
          <p:cNvSpPr txBox="1"/>
          <p:nvPr/>
        </p:nvSpPr>
        <p:spPr>
          <a:xfrm>
            <a:off x="10077450" y="2505456"/>
            <a:ext cx="1693621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Leaking Data · Confidential+Illegal</a:t>
            </a:r>
            <a:endParaRPr lang="en-US" sz="700" dirty="0"/>
          </a:p>
        </p:txBody>
      </p:sp>
      <p:sp>
        <p:nvSpPr>
          <p:cNvPr id="40" name="Shape 32"/>
          <p:cNvSpPr/>
          <p:nvPr/>
        </p:nvSpPr>
        <p:spPr>
          <a:xfrm>
            <a:off x="365760" y="3008376"/>
            <a:ext cx="5638648" cy="621792"/>
          </a:xfrm>
          <a:prstGeom prst="roundRect">
            <a:avLst>
              <a:gd name="adj" fmla="val 7353"/>
            </a:avLst>
          </a:prstGeom>
          <a:solidFill>
            <a:srgbClr val="EDE4FB"/>
          </a:solidFill>
        </p:spPr>
      </p:sp>
      <p:sp>
        <p:nvSpPr>
          <p:cNvPr id="41" name="Text 33"/>
          <p:cNvSpPr txBox="1"/>
          <p:nvPr/>
        </p:nvSpPr>
        <p:spPr>
          <a:xfrm>
            <a:off x="493776" y="3008376"/>
            <a:ext cx="5382616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 Prompt:  </a:t>
            </a: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against known facts, passed to Core AI with a correction instruction — model answers informed by the real data, not the mistaken premise.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6187288" y="3008376"/>
            <a:ext cx="5638648" cy="621792"/>
          </a:xfrm>
          <a:prstGeom prst="roundRect">
            <a:avLst>
              <a:gd name="adj" fmla="val 7353"/>
            </a:avLst>
          </a:prstGeom>
          <a:solidFill>
            <a:srgbClr val="FDF6EC"/>
          </a:solidFill>
          <a:ln w="9525">
            <a:solidFill>
              <a:srgbClr val="F0DCB8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6315304" y="3008376"/>
            <a:ext cx="5382616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Data:  </a:t>
            </a:r>
            <a:r>
              <a:rPr lang="en-US" sz="8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AI is instructed to do both — explicitly ask the user for the missing input, and still generate an answer built on stated assumptions.</a:t>
            </a:r>
            <a:endParaRPr lang="en-US" sz="800" dirty="0"/>
          </a:p>
        </p:txBody>
      </p:sp>
      <p:sp>
        <p:nvSpPr>
          <p:cNvPr id="44" name="Shape 36"/>
          <p:cNvSpPr/>
          <p:nvPr/>
        </p:nvSpPr>
        <p:spPr>
          <a:xfrm>
            <a:off x="365760" y="3849624"/>
            <a:ext cx="237744" cy="237744"/>
          </a:xfrm>
          <a:prstGeom prst="ellipse">
            <a:avLst/>
          </a:prstGeom>
          <a:solidFill>
            <a:srgbClr val="1F1235"/>
          </a:solidFill>
        </p:spPr>
      </p:sp>
      <p:sp>
        <p:nvSpPr>
          <p:cNvPr id="45" name="Text 37"/>
          <p:cNvSpPr txBox="1"/>
          <p:nvPr/>
        </p:nvSpPr>
        <p:spPr>
          <a:xfrm>
            <a:off x="365760" y="38496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76656" y="3849624"/>
            <a:ext cx="11149279" cy="237744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47" name="Text 39"/>
          <p:cNvSpPr txBox="1"/>
          <p:nvPr/>
        </p:nvSpPr>
        <p:spPr>
          <a:xfrm>
            <a:off x="822960" y="3849624"/>
            <a:ext cx="1100297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2 — Response Checker verifies only the tags each segment carries, then routes to a graded decision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365760" y="4215384"/>
            <a:ext cx="1981200" cy="1143000"/>
          </a:xfrm>
          <a:prstGeom prst="roundRect">
            <a:avLst>
              <a:gd name="adj" fmla="val 4800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pic>
        <p:nvPicPr>
          <p:cNvPr id="49" name="Image 6" descr="/home/claude/icons/search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" y="4361688"/>
            <a:ext cx="219456" cy="219456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768096" y="4334256"/>
            <a:ext cx="1469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493776" y="4672584"/>
            <a:ext cx="17251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Checked against public sources + prompt's own data; unverifiable → explicit uncertainty note</a:t>
            </a:r>
            <a:endParaRPr lang="en-US" sz="780" dirty="0"/>
          </a:p>
        </p:txBody>
      </p:sp>
      <p:sp>
        <p:nvSpPr>
          <p:cNvPr id="52" name="Shape 43"/>
          <p:cNvSpPr/>
          <p:nvPr/>
        </p:nvSpPr>
        <p:spPr>
          <a:xfrm>
            <a:off x="2529840" y="4215384"/>
            <a:ext cx="1981200" cy="1143000"/>
          </a:xfrm>
          <a:prstGeom prst="roundRect">
            <a:avLst>
              <a:gd name="adj" fmla="val 4800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pic>
        <p:nvPicPr>
          <p:cNvPr id="53" name="Image 7" descr="/home/claude/icons/users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7856" y="4361688"/>
            <a:ext cx="219456" cy="219456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2932176" y="4334256"/>
            <a:ext cx="1469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2657856" y="4672584"/>
            <a:ext cx="17251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Personalization / region / religion skew vs. prior context; confirmed → dual-window view</a:t>
            </a:r>
            <a:endParaRPr lang="en-US" sz="780" dirty="0"/>
          </a:p>
        </p:txBody>
      </p:sp>
      <p:sp>
        <p:nvSpPr>
          <p:cNvPr id="56" name="Shape 46"/>
          <p:cNvSpPr/>
          <p:nvPr/>
        </p:nvSpPr>
        <p:spPr>
          <a:xfrm>
            <a:off x="4693920" y="4215384"/>
            <a:ext cx="1981200" cy="1143000"/>
          </a:xfrm>
          <a:prstGeom prst="roundRect">
            <a:avLst>
              <a:gd name="adj" fmla="val 4800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pic>
        <p:nvPicPr>
          <p:cNvPr id="57" name="Image 8" descr="/home/claude/icons/lock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1936" y="4361688"/>
            <a:ext cx="219456" cy="219456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5096256" y="4334256"/>
            <a:ext cx="1469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Leaking Data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4821936" y="4672584"/>
            <a:ext cx="17251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Training-set or private info surfacing in the answer — any leak is a hard REJECT</a:t>
            </a:r>
            <a:endParaRPr lang="en-US" sz="780" dirty="0"/>
          </a:p>
        </p:txBody>
      </p:sp>
      <p:sp>
        <p:nvSpPr>
          <p:cNvPr id="60" name="Shape 49"/>
          <p:cNvSpPr/>
          <p:nvPr/>
        </p:nvSpPr>
        <p:spPr>
          <a:xfrm>
            <a:off x="6858000" y="4215384"/>
            <a:ext cx="4967935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61" name="Image 9" descr="/home/claude/icons/check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7728" y="4265676"/>
            <a:ext cx="219456" cy="219456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7242048" y="421538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</a:t>
            </a:r>
            <a:endParaRPr lang="en-US" sz="1000" dirty="0"/>
          </a:p>
        </p:txBody>
      </p:sp>
      <p:sp>
        <p:nvSpPr>
          <p:cNvPr id="63" name="Text 51"/>
          <p:cNvSpPr txBox="1"/>
          <p:nvPr/>
        </p:nvSpPr>
        <p:spPr>
          <a:xfrm>
            <a:off x="8229600" y="4215384"/>
            <a:ext cx="3486607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confirmed risk — ships to user as generated</a:t>
            </a:r>
            <a:endParaRPr lang="en-US" sz="760" dirty="0"/>
          </a:p>
        </p:txBody>
      </p:sp>
      <p:sp>
        <p:nvSpPr>
          <p:cNvPr id="64" name="Shape 52"/>
          <p:cNvSpPr/>
          <p:nvPr/>
        </p:nvSpPr>
        <p:spPr>
          <a:xfrm>
            <a:off x="6858000" y="4626864"/>
            <a:ext cx="4967935" cy="320040"/>
          </a:xfrm>
          <a:prstGeom prst="roundRect">
            <a:avLst>
              <a:gd name="adj" fmla="val 14286"/>
            </a:avLst>
          </a:prstGeom>
          <a:solidFill>
            <a:srgbClr val="FDF6EC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65" name="Image 10" descr="/home/claude/icons/edit_amb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7728" y="4677156"/>
            <a:ext cx="219456" cy="219456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7242048" y="462686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</a:t>
            </a:r>
            <a:endParaRPr lang="en-US" sz="1000" dirty="0"/>
          </a:p>
        </p:txBody>
      </p:sp>
      <p:sp>
        <p:nvSpPr>
          <p:cNvPr id="67" name="Text 54"/>
          <p:cNvSpPr txBox="1"/>
          <p:nvPr/>
        </p:nvSpPr>
        <p:spPr>
          <a:xfrm>
            <a:off x="8229600" y="4626864"/>
            <a:ext cx="3486607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confirmed — annotated or dual-window split</a:t>
            </a:r>
            <a:endParaRPr lang="en-US" sz="760" dirty="0"/>
          </a:p>
        </p:txBody>
      </p:sp>
      <p:sp>
        <p:nvSpPr>
          <p:cNvPr id="68" name="Shape 55"/>
          <p:cNvSpPr/>
          <p:nvPr/>
        </p:nvSpPr>
        <p:spPr>
          <a:xfrm>
            <a:off x="6858000" y="5038344"/>
            <a:ext cx="4967935" cy="320040"/>
          </a:xfrm>
          <a:prstGeom prst="roundRect">
            <a:avLst>
              <a:gd name="adj" fmla="val 14286"/>
            </a:avLst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pic>
        <p:nvPicPr>
          <p:cNvPr id="69" name="Image 11" descr="/home/claude/icons/x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67728" y="5088636"/>
            <a:ext cx="219456" cy="219456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7242048" y="503834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</a:t>
            </a:r>
            <a:endParaRPr lang="en-US" sz="1000" dirty="0"/>
          </a:p>
        </p:txBody>
      </p:sp>
      <p:sp>
        <p:nvSpPr>
          <p:cNvPr id="71" name="Text 57"/>
          <p:cNvSpPr txBox="1"/>
          <p:nvPr/>
        </p:nvSpPr>
        <p:spPr>
          <a:xfrm>
            <a:off x="8229600" y="5038344"/>
            <a:ext cx="3486607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Universal fail / leak — hard stop, decline message</a:t>
            </a:r>
            <a:endParaRPr lang="en-US" sz="760" dirty="0"/>
          </a:p>
        </p:txBody>
      </p:sp>
      <p:sp>
        <p:nvSpPr>
          <p:cNvPr id="72" name="Shape 58"/>
          <p:cNvSpPr/>
          <p:nvPr/>
        </p:nvSpPr>
        <p:spPr>
          <a:xfrm>
            <a:off x="365760" y="5577840"/>
            <a:ext cx="11460175" cy="384048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73" name="Image 12" descr="/home/claude/icons/flag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488" y="5660136"/>
            <a:ext cx="219456" cy="219456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786384" y="5577840"/>
            <a:ext cx="1091153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 is reserved for universal, non-negotiable failures — everything else is scoped. Tuning scrutiny to exactly the risk each segment could plausibly carry is what keeps false positives down and user trust survivable at scale.</a:t>
            </a:r>
            <a:endParaRPr lang="en-US" sz="1050" dirty="0"/>
          </a:p>
        </p:txBody>
      </p:sp>
      <p:sp>
        <p:nvSpPr>
          <p:cNvPr id="75" name="Text 60"/>
          <p:cNvSpPr txBox="1"/>
          <p:nvPr/>
        </p:nvSpPr>
        <p:spPr>
          <a:xfrm>
            <a:off x="365760" y="5980176"/>
            <a:ext cx="11460175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OWASP Top 10 for LLM Applications 2025 · LLM-as-judge / human-evaluator agreement research (MT-Bench, Confident AI)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512064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920240" y="256032"/>
            <a:ext cx="9905695" cy="512064"/>
          </a:xfrm>
          <a:prstGeom prst="roundRect">
            <a:avLst>
              <a:gd name="adj" fmla="val 10714"/>
            </a:avLst>
          </a:prstGeom>
          <a:solidFill>
            <a:srgbClr val="EDE4FB"/>
          </a:solidFill>
        </p:spPr>
      </p:sp>
      <p:sp>
        <p:nvSpPr>
          <p:cNvPr id="5" name="Text 3"/>
          <p:cNvSpPr txBox="1"/>
          <p:nvPr/>
        </p:nvSpPr>
        <p:spPr>
          <a:xfrm>
            <a:off x="2057400" y="256032"/>
            <a:ext cx="963137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decision leaves an audit trail — human review on ambiguous calls, feedback that retrains the system, live metrics on the home page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Nothing ships untracked: each override becomes tuning data for the next threshold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7040880" cy="914400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7" name="Image 0" descr="/home/claude/icon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10789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INSIGHT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61872"/>
            <a:ext cx="67665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EDIT-tier response, and every ambiguous confidential-data-plus-legality call, routes to optional human review. The reviewer's verdict — not a fixed rule — becomes tomorrow's confidence threshold, so the system ages with the risk landscape rather than against it.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516368" y="1005840"/>
            <a:ext cx="4309567" cy="914400"/>
          </a:xfrm>
          <a:prstGeom prst="rect">
            <a:avLst/>
          </a:prstGeom>
          <a:solidFill>
            <a:srgbClr val="5B21B6"/>
          </a:solidFill>
        </p:spPr>
      </p:sp>
      <p:sp>
        <p:nvSpPr>
          <p:cNvPr id="11" name="Text 8"/>
          <p:cNvSpPr txBox="1"/>
          <p:nvPr/>
        </p:nvSpPr>
        <p:spPr>
          <a:xfrm>
            <a:off x="7653528" y="1078992"/>
            <a:ext cx="403524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DE4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MATTERS NOW</a:t>
            </a:r>
            <a:endParaRPr lang="en-US" sz="850" dirty="0"/>
          </a:p>
        </p:txBody>
      </p:sp>
      <p:pic>
        <p:nvPicPr>
          <p:cNvPr id="12" name="Image 1" descr="/home/claude/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38988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1316736"/>
            <a:ext cx="377921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 → 18%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909560" y="1545336"/>
            <a:ext cx="3852367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orgs rating AI-incident response "excellent" (Stanford HAI / McKinsey, 2024→2025)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65760" y="2139696"/>
            <a:ext cx="237744" cy="237744"/>
          </a:xfrm>
          <a:prstGeom prst="ellipse">
            <a:avLst/>
          </a:prstGeom>
          <a:solidFill>
            <a:srgbClr val="1F1235"/>
          </a:solidFill>
        </p:spPr>
      </p:sp>
      <p:sp>
        <p:nvSpPr>
          <p:cNvPr id="16" name="Text 12"/>
          <p:cNvSpPr txBox="1"/>
          <p:nvPr/>
        </p:nvSpPr>
        <p:spPr>
          <a:xfrm>
            <a:off x="365760" y="213969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76656" y="2139696"/>
            <a:ext cx="11149279" cy="237744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18" name="Text 14"/>
          <p:cNvSpPr txBox="1"/>
          <p:nvPr/>
        </p:nvSpPr>
        <p:spPr>
          <a:xfrm>
            <a:off x="822960" y="2139696"/>
            <a:ext cx="1100297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trail — every segment, every tag checked, every verdict, reconstructable end-to-end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65760" y="2505456"/>
            <a:ext cx="7040880" cy="1600200"/>
          </a:xfrm>
          <a:prstGeom prst="roundRect">
            <a:avLst>
              <a:gd name="adj" fmla="val 3429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93776" y="2633472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2093976" y="2633472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3328416" y="263347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Tags checked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4882896" y="263347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Tags crossed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6345936" y="263347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Verdict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93776" y="2907792"/>
            <a:ext cx="6784848" cy="0"/>
          </a:xfrm>
          <a:prstGeom prst="line">
            <a:avLst/>
          </a:prstGeom>
          <a:noFill/>
          <a:ln w="12700">
            <a:solidFill>
              <a:srgbClr val="D8D3E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93776" y="3017520"/>
            <a:ext cx="15453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"Will this dosage combo interact badly?"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2093976" y="3017520"/>
            <a:ext cx="117957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3328416" y="3017520"/>
            <a:ext cx="149961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4882896" y="3017520"/>
            <a:ext cx="140817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 → confirmed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6345936" y="3017520"/>
            <a:ext cx="11338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(dual-window)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493776" y="3584448"/>
            <a:ext cx="6784848" cy="0"/>
          </a:xfrm>
          <a:prstGeom prst="line">
            <a:avLst/>
          </a:prstGeom>
          <a:noFill/>
          <a:ln w="9525">
            <a:solidFill>
              <a:srgbClr val="D8D3E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93776" y="3657600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"Draft summary using our Q3 dataset"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2093976" y="3657600"/>
            <a:ext cx="11795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3328416" y="3657600"/>
            <a:ext cx="14996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Leaking Data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4882896" y="3657600"/>
            <a:ext cx="14081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 crossed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6345936" y="3657600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7589520" y="2505456"/>
            <a:ext cx="4236415" cy="1600200"/>
          </a:xfrm>
          <a:prstGeom prst="roundRect">
            <a:avLst>
              <a:gd name="adj" fmla="val 3429"/>
            </a:avLst>
          </a:prstGeom>
          <a:solidFill>
            <a:srgbClr val="FDF6EC"/>
          </a:solidFill>
          <a:ln w="12700">
            <a:solidFill>
              <a:srgbClr val="F0DCB8"/>
            </a:solidFill>
            <a:prstDash val="solid"/>
          </a:ln>
        </p:spPr>
      </p:sp>
      <p:pic>
        <p:nvPicPr>
          <p:cNvPr id="38" name="Image 2" descr="/home/claude/icons/refresh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2670048"/>
            <a:ext cx="237744" cy="237744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046720" y="2651760"/>
            <a:ext cx="3669487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LOOP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7735824" y="3017520"/>
            <a:ext cx="3943807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human override becomes tuning data — confidence thresholds and per-tag sensitivity adjust from real reviewer outcomes over time, not from a fixed rule that ages as models and regulation change.</a:t>
            </a:r>
            <a:endParaRPr lang="en-US" sz="880" dirty="0"/>
          </a:p>
        </p:txBody>
      </p:sp>
      <p:sp>
        <p:nvSpPr>
          <p:cNvPr id="41" name="Shape 36"/>
          <p:cNvSpPr/>
          <p:nvPr/>
        </p:nvSpPr>
        <p:spPr>
          <a:xfrm>
            <a:off x="365760" y="4325112"/>
            <a:ext cx="237744" cy="237744"/>
          </a:xfrm>
          <a:prstGeom prst="ellipse">
            <a:avLst/>
          </a:prstGeom>
          <a:solidFill>
            <a:srgbClr val="1F1235"/>
          </a:solidFill>
        </p:spPr>
      </p:sp>
      <p:sp>
        <p:nvSpPr>
          <p:cNvPr id="42" name="Text 37"/>
          <p:cNvSpPr txBox="1"/>
          <p:nvPr/>
        </p:nvSpPr>
        <p:spPr>
          <a:xfrm>
            <a:off x="365760" y="43251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676656" y="4325112"/>
            <a:ext cx="11149279" cy="237744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44" name="Text 39"/>
          <p:cNvSpPr txBox="1"/>
          <p:nvPr/>
        </p:nvSpPr>
        <p:spPr>
          <a:xfrm>
            <a:off x="822960" y="4325112"/>
            <a:ext cx="1100297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Home-page metrics dashboard — trustworthiness in four numbers, updated live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365760" y="4690872"/>
            <a:ext cx="2727884" cy="777240"/>
          </a:xfrm>
          <a:prstGeom prst="roundRect">
            <a:avLst>
              <a:gd name="adj" fmla="val 7059"/>
            </a:avLst>
          </a:prstGeom>
          <a:solidFill>
            <a:srgbClr val="1F1235"/>
          </a:solidFill>
        </p:spPr>
      </p:sp>
      <p:pic>
        <p:nvPicPr>
          <p:cNvPr id="46" name="Image 3" descr="/home/claude/icons/messa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937760"/>
            <a:ext cx="310896" cy="310896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914400" y="4818888"/>
            <a:ext cx="206951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48,206</a:t>
            </a:r>
            <a:endParaRPr lang="en-US" sz="1900" dirty="0"/>
          </a:p>
        </p:txBody>
      </p:sp>
      <p:sp>
        <p:nvSpPr>
          <p:cNvPr id="48" name="Text 42"/>
          <p:cNvSpPr txBox="1"/>
          <p:nvPr/>
        </p:nvSpPr>
        <p:spPr>
          <a:xfrm>
            <a:off x="914400" y="5148072"/>
            <a:ext cx="20695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prompts processed / wk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3276524" y="4690872"/>
            <a:ext cx="2727884" cy="777240"/>
          </a:xfrm>
          <a:prstGeom prst="roundRect">
            <a:avLst>
              <a:gd name="adj" fmla="val 7059"/>
            </a:avLst>
          </a:prstGeom>
          <a:solidFill>
            <a:srgbClr val="1F1235"/>
          </a:solidFill>
        </p:spPr>
      </p:sp>
      <p:pic>
        <p:nvPicPr>
          <p:cNvPr id="50" name="Image 4" descr="/home/claude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116" y="4937760"/>
            <a:ext cx="310896" cy="310896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3825164" y="4818888"/>
            <a:ext cx="206951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91%</a:t>
            </a:r>
            <a:endParaRPr lang="en-US" sz="1900" dirty="0"/>
          </a:p>
        </p:txBody>
      </p:sp>
      <p:sp>
        <p:nvSpPr>
          <p:cNvPr id="52" name="Text 45"/>
          <p:cNvSpPr txBox="1"/>
          <p:nvPr/>
        </p:nvSpPr>
        <p:spPr>
          <a:xfrm>
            <a:off x="3825164" y="5148072"/>
            <a:ext cx="20695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satisfaction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6187288" y="4690872"/>
            <a:ext cx="2727884" cy="777240"/>
          </a:xfrm>
          <a:prstGeom prst="roundRect">
            <a:avLst>
              <a:gd name="adj" fmla="val 7059"/>
            </a:avLst>
          </a:prstGeom>
          <a:solidFill>
            <a:srgbClr val="1F1235"/>
          </a:solidFill>
        </p:spPr>
      </p:sp>
      <p:pic>
        <p:nvPicPr>
          <p:cNvPr id="54" name="Image 5" descr="/home/claude/icons/ale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880" y="4937760"/>
            <a:ext cx="310896" cy="310896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6735928" y="4818888"/>
            <a:ext cx="206951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4.8%</a:t>
            </a:r>
            <a:endParaRPr lang="en-US" sz="1900" dirty="0"/>
          </a:p>
        </p:txBody>
      </p:sp>
      <p:sp>
        <p:nvSpPr>
          <p:cNvPr id="56" name="Text 48"/>
          <p:cNvSpPr txBox="1"/>
          <p:nvPr/>
        </p:nvSpPr>
        <p:spPr>
          <a:xfrm>
            <a:off x="6735928" y="5148072"/>
            <a:ext cx="20695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 rate</a:t>
            </a:r>
            <a:endParaRPr lang="en-US" sz="850" dirty="0"/>
          </a:p>
        </p:txBody>
      </p:sp>
      <p:sp>
        <p:nvSpPr>
          <p:cNvPr id="57" name="Shape 49"/>
          <p:cNvSpPr/>
          <p:nvPr/>
        </p:nvSpPr>
        <p:spPr>
          <a:xfrm>
            <a:off x="9098051" y="4690872"/>
            <a:ext cx="2727884" cy="777240"/>
          </a:xfrm>
          <a:prstGeom prst="roundRect">
            <a:avLst>
              <a:gd name="adj" fmla="val 7059"/>
            </a:avLst>
          </a:prstGeom>
          <a:solidFill>
            <a:srgbClr val="1F1235"/>
          </a:solidFill>
        </p:spPr>
      </p:sp>
      <p:pic>
        <p:nvPicPr>
          <p:cNvPr id="58" name="Image 6" descr="/home/claude/icons/x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2643" y="4937760"/>
            <a:ext cx="310896" cy="310896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9646691" y="4818888"/>
            <a:ext cx="206951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1.3%</a:t>
            </a:r>
            <a:endParaRPr lang="en-US" sz="1900" dirty="0"/>
          </a:p>
        </p:txBody>
      </p:sp>
      <p:sp>
        <p:nvSpPr>
          <p:cNvPr id="60" name="Text 51"/>
          <p:cNvSpPr txBox="1"/>
          <p:nvPr/>
        </p:nvSpPr>
        <p:spPr>
          <a:xfrm>
            <a:off x="9646691" y="5148072"/>
            <a:ext cx="20695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negative rate</a:t>
            </a:r>
            <a:endParaRPr lang="en-US" sz="850" dirty="0"/>
          </a:p>
        </p:txBody>
      </p:sp>
      <p:sp>
        <p:nvSpPr>
          <p:cNvPr id="61" name="Shape 52"/>
          <p:cNvSpPr/>
          <p:nvPr/>
        </p:nvSpPr>
        <p:spPr>
          <a:xfrm>
            <a:off x="365760" y="5687568"/>
            <a:ext cx="11460175" cy="384048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62" name="Image 7" descr="/home/claude/icons/flag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" y="5769864"/>
            <a:ext cx="219456" cy="219456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786384" y="5687568"/>
            <a:ext cx="1091153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Governance is not a separate slide from the checker — it's the same audit record, replayed as a dashboard: every allow, edit and block is logged, reviewable, and feeds the next threshold.</a:t>
            </a:r>
            <a:endParaRPr lang="en-US" sz="1050" dirty="0"/>
          </a:p>
        </p:txBody>
      </p:sp>
      <p:sp>
        <p:nvSpPr>
          <p:cNvPr id="64" name="Text 54"/>
          <p:cNvSpPr txBox="1"/>
          <p:nvPr/>
        </p:nvSpPr>
        <p:spPr>
          <a:xfrm>
            <a:off x="365760" y="6089904"/>
            <a:ext cx="11460175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Stanford HAI 2026 AI Index Report · Tines Voice of the SOC Analyst (71% of analysts report alert-fatigue burnout) — illustrative dashboard figures for prototype demonstration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737360" cy="566928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3" name="Text 1"/>
          <p:cNvSpPr txBox="1"/>
          <p:nvPr/>
        </p:nvSpPr>
        <p:spPr>
          <a:xfrm>
            <a:off x="365760" y="32004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12848" y="320040"/>
            <a:ext cx="9610344" cy="566928"/>
          </a:xfrm>
          <a:prstGeom prst="rect">
            <a:avLst/>
          </a:prstGeom>
          <a:solidFill>
            <a:srgbClr val="F5F0FC"/>
          </a:solidFill>
        </p:spPr>
      </p:sp>
      <p:sp>
        <p:nvSpPr>
          <p:cNvPr id="5" name="Text 3"/>
          <p:cNvSpPr txBox="1"/>
          <p:nvPr/>
        </p:nvSpPr>
        <p:spPr>
          <a:xfrm>
            <a:off x="2395728" y="320040"/>
            <a:ext cx="93360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ControlPlane.ai runs at the speed each use case needs — scoped checks, not a blanket tax on every response
</a:t>
            </a: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latency is parallelized and tiered by risk tolerance; the highest-risk (unsafe/illegal) path is also the fastest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989320" cy="1298448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7" name="Image 0" descr="/home/claude/work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43000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1124712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INSIGHT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1463040"/>
            <a:ext cx="566013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checker never runs one heavy pipeline per request. Segments are tagged once; only the tags a segment actually carries get verified — and Prompt Analyzer + Response Checker calls run concurrently, not sequentially. Real-time cases get a lightweight fast path; batch and human-reviewed workflows get deeper checks inside time they already budget.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92240" y="1005840"/>
            <a:ext cx="5330952" cy="1298448"/>
          </a:xfrm>
          <a:prstGeom prst="rect">
            <a:avLst/>
          </a:prstGeom>
          <a:solidFill>
            <a:srgbClr val="5B21B6"/>
          </a:solidFill>
        </p:spPr>
      </p:sp>
      <p:sp>
        <p:nvSpPr>
          <p:cNvPr id="11" name="Text 8"/>
          <p:cNvSpPr txBox="1"/>
          <p:nvPr/>
        </p:nvSpPr>
        <p:spPr>
          <a:xfrm>
            <a:off x="6656832" y="1124712"/>
            <a:ext cx="50017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MATTERS NOW</a:t>
            </a:r>
            <a:endParaRPr lang="en-US" sz="1000" dirty="0"/>
          </a:p>
        </p:txBody>
      </p:sp>
      <p:pic>
        <p:nvPicPr>
          <p:cNvPr id="12" name="Image 1" descr="/home/claude/work/icons/gau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59168" y="1426464"/>
            <a:ext cx="4599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53% abandon &gt;3s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56832" y="1847088"/>
            <a:ext cx="5001768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5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mobile users abandon a page/response taking longer than 3 seconds to return (Google/SOASTA). Latency tolerance — not just accuracy — is a real trust variable ControlPlane is designed around.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5760" y="2450592"/>
            <a:ext cx="310896" cy="310896"/>
          </a:xfrm>
          <a:prstGeom prst="ellipse">
            <a:avLst/>
          </a:prstGeom>
          <a:solidFill>
            <a:srgbClr val="1F1235"/>
          </a:solidFill>
        </p:spPr>
      </p:sp>
      <p:sp>
        <p:nvSpPr>
          <p:cNvPr id="16" name="Text 12"/>
          <p:cNvSpPr txBox="1"/>
          <p:nvPr/>
        </p:nvSpPr>
        <p:spPr>
          <a:xfrm>
            <a:off x="365760" y="245059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68096" y="2432304"/>
            <a:ext cx="11055096" cy="347472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18" name="Text 14"/>
          <p:cNvSpPr txBox="1"/>
          <p:nvPr/>
        </p:nvSpPr>
        <p:spPr>
          <a:xfrm>
            <a:off x="932688" y="2432304"/>
            <a:ext cx="108173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Core AI response time vs. time with ControlPlane in the loop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65760" y="2907792"/>
            <a:ext cx="3611880" cy="1920240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66928" y="3090672"/>
            <a:ext cx="457200" cy="457200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21" name="Image 2" descr="/home/claude/work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200400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43000" y="305409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Customer-Facing AI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3310128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· STRICT BUDGET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3657600"/>
            <a:ext cx="99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75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3840480"/>
            <a:ext cx="99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1.8s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1630680" y="3657600"/>
            <a:ext cx="99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OVERHEAD</a:t>
            </a:r>
            <a:endParaRPr lang="en-US" sz="750" dirty="0"/>
          </a:p>
        </p:txBody>
      </p:sp>
      <p:sp>
        <p:nvSpPr>
          <p:cNvPr id="27" name="Text 22"/>
          <p:cNvSpPr txBox="1"/>
          <p:nvPr/>
        </p:nvSpPr>
        <p:spPr>
          <a:xfrm>
            <a:off x="1630680" y="3840480"/>
            <a:ext cx="99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+0.4s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2712720" y="3657600"/>
            <a:ext cx="99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endParaRPr lang="en-US" sz="750" dirty="0"/>
          </a:p>
        </p:txBody>
      </p:sp>
      <p:sp>
        <p:nvSpPr>
          <p:cNvPr id="29" name="Text 24"/>
          <p:cNvSpPr txBox="1"/>
          <p:nvPr/>
        </p:nvSpPr>
        <p:spPr>
          <a:xfrm>
            <a:off x="2712720" y="3840480"/>
            <a:ext cx="99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2.2s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4224528"/>
            <a:ext cx="3246120" cy="0"/>
          </a:xfrm>
          <a:prstGeom prst="line">
            <a:avLst/>
          </a:prstGeom>
          <a:noFill/>
          <a:ln w="9525">
            <a:solidFill>
              <a:srgbClr val="D8D3E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48640" y="4297680"/>
            <a:ext cx="324612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Fast-path scoped checks only (tags the segment's category actually carries) run in parallel with Response Checker — no sequential stacking.</a:t>
            </a:r>
            <a:endParaRPr lang="en-US" sz="870" dirty="0"/>
          </a:p>
        </p:txBody>
      </p:sp>
      <p:sp>
        <p:nvSpPr>
          <p:cNvPr id="32" name="Shape 27"/>
          <p:cNvSpPr/>
          <p:nvPr/>
        </p:nvSpPr>
        <p:spPr>
          <a:xfrm>
            <a:off x="4288536" y="2907792"/>
            <a:ext cx="3611880" cy="1920240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489704" y="3090672"/>
            <a:ext cx="457200" cy="457200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34" name="Image 3" descr="/home/claude/work/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200400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5065776" y="305409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Employee AI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5065776" y="3310128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 REAL-TIME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4471416" y="3657600"/>
            <a:ext cx="99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750" dirty="0"/>
          </a:p>
        </p:txBody>
      </p:sp>
      <p:sp>
        <p:nvSpPr>
          <p:cNvPr id="38" name="Text 32"/>
          <p:cNvSpPr txBox="1"/>
          <p:nvPr/>
        </p:nvSpPr>
        <p:spPr>
          <a:xfrm>
            <a:off x="4471416" y="3840480"/>
            <a:ext cx="99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2.6s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5553456" y="3657600"/>
            <a:ext cx="99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OVERHEAD</a:t>
            </a:r>
            <a:endParaRPr lang="en-US" sz="750" dirty="0"/>
          </a:p>
        </p:txBody>
      </p:sp>
      <p:sp>
        <p:nvSpPr>
          <p:cNvPr id="40" name="Text 34"/>
          <p:cNvSpPr txBox="1"/>
          <p:nvPr/>
        </p:nvSpPr>
        <p:spPr>
          <a:xfrm>
            <a:off x="5553456" y="3840480"/>
            <a:ext cx="99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+0.5s</a:t>
            </a:r>
            <a:endParaRPr lang="en-US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6635496" y="3657600"/>
            <a:ext cx="99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endParaRPr lang="en-US" sz="750" dirty="0"/>
          </a:p>
        </p:txBody>
      </p:sp>
      <p:sp>
        <p:nvSpPr>
          <p:cNvPr id="42" name="Text 36"/>
          <p:cNvSpPr txBox="1"/>
          <p:nvPr/>
        </p:nvSpPr>
        <p:spPr>
          <a:xfrm>
            <a:off x="6635496" y="3840480"/>
            <a:ext cx="99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3.1s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4471416" y="4224528"/>
            <a:ext cx="3246120" cy="0"/>
          </a:xfrm>
          <a:prstGeom prst="line">
            <a:avLst/>
          </a:prstGeom>
          <a:noFill/>
          <a:ln w="9525">
            <a:solidFill>
              <a:srgbClr val="D8D3E0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4471416" y="4297680"/>
            <a:ext cx="324612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scoped-and-parallel design; slightly larger prompts (docs, code context) add a little Prompt Analyzer time.</a:t>
            </a:r>
            <a:endParaRPr lang="en-US" sz="870" dirty="0"/>
          </a:p>
        </p:txBody>
      </p:sp>
      <p:sp>
        <p:nvSpPr>
          <p:cNvPr id="45" name="Shape 39"/>
          <p:cNvSpPr/>
          <p:nvPr/>
        </p:nvSpPr>
        <p:spPr>
          <a:xfrm>
            <a:off x="8211312" y="2907792"/>
            <a:ext cx="3611880" cy="1920240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8412480" y="3090672"/>
            <a:ext cx="457200" cy="457200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47" name="Image 4" descr="/home/claude/work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3200400"/>
            <a:ext cx="237744" cy="237744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8988552" y="305409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Regulated Decision-Support</a:t>
            </a:r>
            <a:endParaRPr lang="en-US" sz="1300" dirty="0"/>
          </a:p>
        </p:txBody>
      </p:sp>
      <p:sp>
        <p:nvSpPr>
          <p:cNvPr id="49" name="Text 42"/>
          <p:cNvSpPr txBox="1"/>
          <p:nvPr/>
        </p:nvSpPr>
        <p:spPr>
          <a:xfrm>
            <a:off x="8988552" y="3310128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/ HUMAN-PACED</a:t>
            </a:r>
            <a:endParaRPr lang="en-US" sz="800" dirty="0"/>
          </a:p>
        </p:txBody>
      </p:sp>
      <p:sp>
        <p:nvSpPr>
          <p:cNvPr id="50" name="Text 43"/>
          <p:cNvSpPr txBox="1"/>
          <p:nvPr/>
        </p:nvSpPr>
        <p:spPr>
          <a:xfrm>
            <a:off x="8394192" y="3657600"/>
            <a:ext cx="99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750" dirty="0"/>
          </a:p>
        </p:txBody>
      </p:sp>
      <p:sp>
        <p:nvSpPr>
          <p:cNvPr id="51" name="Text 44"/>
          <p:cNvSpPr txBox="1"/>
          <p:nvPr/>
        </p:nvSpPr>
        <p:spPr>
          <a:xfrm>
            <a:off x="8394192" y="3840480"/>
            <a:ext cx="99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</a:t>
            </a:r>
            <a:endParaRPr lang="en-US" sz="1500" dirty="0"/>
          </a:p>
        </p:txBody>
      </p:sp>
      <p:sp>
        <p:nvSpPr>
          <p:cNvPr id="52" name="Text 45"/>
          <p:cNvSpPr txBox="1"/>
          <p:nvPr/>
        </p:nvSpPr>
        <p:spPr>
          <a:xfrm>
            <a:off x="9476232" y="3657600"/>
            <a:ext cx="99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OVERHEAD</a:t>
            </a:r>
            <a:endParaRPr lang="en-US" sz="750" dirty="0"/>
          </a:p>
        </p:txBody>
      </p:sp>
      <p:sp>
        <p:nvSpPr>
          <p:cNvPr id="53" name="Text 46"/>
          <p:cNvSpPr txBox="1"/>
          <p:nvPr/>
        </p:nvSpPr>
        <p:spPr>
          <a:xfrm>
            <a:off x="9476232" y="3840480"/>
            <a:ext cx="99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+0s</a:t>
            </a:r>
            <a:endParaRPr lang="en-US" sz="1500" dirty="0"/>
          </a:p>
        </p:txBody>
      </p:sp>
      <p:sp>
        <p:nvSpPr>
          <p:cNvPr id="54" name="Text 47"/>
          <p:cNvSpPr txBox="1"/>
          <p:nvPr/>
        </p:nvSpPr>
        <p:spPr>
          <a:xfrm>
            <a:off x="10558272" y="3657600"/>
            <a:ext cx="990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endParaRPr lang="en-US" sz="750" dirty="0"/>
          </a:p>
        </p:txBody>
      </p:sp>
      <p:sp>
        <p:nvSpPr>
          <p:cNvPr id="55" name="Text 48"/>
          <p:cNvSpPr txBox="1"/>
          <p:nvPr/>
        </p:nvSpPr>
        <p:spPr>
          <a:xfrm>
            <a:off x="10558272" y="3840480"/>
            <a:ext cx="99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add</a:t>
            </a:r>
            <a:endParaRPr lang="en-US" sz="1500" dirty="0"/>
          </a:p>
        </p:txBody>
      </p:sp>
      <p:sp>
        <p:nvSpPr>
          <p:cNvPr id="56" name="Shape 49"/>
          <p:cNvSpPr/>
          <p:nvPr/>
        </p:nvSpPr>
        <p:spPr>
          <a:xfrm>
            <a:off x="8394192" y="4224528"/>
            <a:ext cx="3246120" cy="0"/>
          </a:xfrm>
          <a:prstGeom prst="line">
            <a:avLst/>
          </a:prstGeom>
          <a:noFill/>
          <a:ln w="9525">
            <a:solidFill>
              <a:srgbClr val="D8D3E0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8394192" y="4297680"/>
            <a:ext cx="324612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Deepest verification runs inside the review window clinicians/analysts already take — checker time is absorbed, not added, not perceived.</a:t>
            </a:r>
            <a:endParaRPr lang="en-US" sz="870" dirty="0"/>
          </a:p>
        </p:txBody>
      </p:sp>
      <p:sp>
        <p:nvSpPr>
          <p:cNvPr id="58" name="Shape 51"/>
          <p:cNvSpPr/>
          <p:nvPr/>
        </p:nvSpPr>
        <p:spPr>
          <a:xfrm>
            <a:off x="365760" y="4974336"/>
            <a:ext cx="11457432" cy="512064"/>
          </a:xfrm>
          <a:prstGeom prst="rect">
            <a:avLst/>
          </a:prstGeom>
          <a:solidFill>
            <a:srgbClr val="FDF6EC"/>
          </a:solidFill>
          <a:ln w="9525">
            <a:solidFill>
              <a:srgbClr val="F0DCB8"/>
            </a:solidFill>
            <a:prstDash val="solid"/>
          </a:ln>
        </p:spPr>
      </p:sp>
      <p:pic>
        <p:nvPicPr>
          <p:cNvPr id="59" name="Image 5" descr="/home/claude/work/icons/alert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5093208"/>
            <a:ext cx="274320" cy="274320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914400" y="4974336"/>
            <a:ext cx="107899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riskiest case is also the fastest: </a:t>
            </a:r>
            <a:r>
              <a:rPr lang="en-US" sz="95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unsafe/illegal intent is caught by the universal check before segment classification even begins — it skips straight to REJECT, adding no extra latency at all.</a:t>
            </a:r>
            <a:endParaRPr lang="en-US" sz="950" dirty="0"/>
          </a:p>
        </p:txBody>
      </p:sp>
      <p:sp>
        <p:nvSpPr>
          <p:cNvPr id="61" name="Shape 53"/>
          <p:cNvSpPr/>
          <p:nvPr/>
        </p:nvSpPr>
        <p:spPr>
          <a:xfrm>
            <a:off x="365760" y="5614416"/>
            <a:ext cx="11457432" cy="530352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62" name="Image 6" descr="/home/claude/work/icons/fla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5751576"/>
            <a:ext cx="256032" cy="256032"/>
          </a:xfrm>
          <a:prstGeom prst="rect">
            <a:avLst/>
          </a:prstGeom>
        </p:spPr>
      </p:pic>
      <p:sp>
        <p:nvSpPr>
          <p:cNvPr id="63" name="Text 54"/>
          <p:cNvSpPr txBox="1"/>
          <p:nvPr/>
        </p:nvSpPr>
        <p:spPr>
          <a:xfrm>
            <a:off x="868680" y="5669280"/>
            <a:ext cx="1077163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Overhead scales with risk tolerance, not the other way round — real-time surfaces get a thin, parallel scoped check (~20% add, sub-second), while batch and human-reviewed workflows get the deepest verification for effectively zero perceived cost.</a:t>
            </a:r>
            <a:endParaRPr lang="en-US" sz="1050" dirty="0"/>
          </a:p>
        </p:txBody>
      </p:sp>
      <p:sp>
        <p:nvSpPr>
          <p:cNvPr id="64" name="Text 55"/>
          <p:cNvSpPr txBox="1"/>
          <p:nvPr/>
        </p:nvSpPr>
        <p:spPr>
          <a:xfrm>
            <a:off x="365760" y="6656832"/>
            <a:ext cx="114574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response-time ranges are illustrative, modeled on typical single-call LLM latency for prototype demonstration · Abandonment stat: Google/SOASTA "The State of Online Retail Performance"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756692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737360" cy="566928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3" name="Text 1"/>
          <p:cNvSpPr txBox="1"/>
          <p:nvPr/>
        </p:nvSpPr>
        <p:spPr>
          <a:xfrm>
            <a:off x="365760" y="32004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12848" y="320040"/>
            <a:ext cx="9610344" cy="566928"/>
          </a:xfrm>
          <a:prstGeom prst="rect">
            <a:avLst/>
          </a:prstGeom>
          <a:solidFill>
            <a:srgbClr val="F5F0FC"/>
          </a:solidFill>
        </p:spPr>
      </p:sp>
      <p:sp>
        <p:nvSpPr>
          <p:cNvPr id="5" name="Text 3"/>
          <p:cNvSpPr txBox="1"/>
          <p:nvPr/>
        </p:nvSpPr>
        <p:spPr>
          <a:xfrm>
            <a:off x="2395728" y="320040"/>
            <a:ext cx="933602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Model-agnostic by design, tuned against alert fatigue, and reported the way a skeptical stakeholder can verify
</a:t>
            </a: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design choices that keep ControlPlane trustworthy without ever touching model internals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310896" cy="310896"/>
          </a:xfrm>
          <a:prstGeom prst="ellipse">
            <a:avLst/>
          </a:prstGeom>
          <a:solidFill>
            <a:srgbClr val="1F1235"/>
          </a:solidFill>
        </p:spPr>
      </p:sp>
      <p:sp>
        <p:nvSpPr>
          <p:cNvPr id="7" name="Text 5"/>
          <p:cNvSpPr txBox="1"/>
          <p:nvPr/>
        </p:nvSpPr>
        <p:spPr>
          <a:xfrm>
            <a:off x="365760" y="10241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" y="1005840"/>
            <a:ext cx="11055096" cy="347472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9" name="Text 7"/>
          <p:cNvSpPr txBox="1"/>
          <p:nvPr/>
        </p:nvSpPr>
        <p:spPr>
          <a:xfrm>
            <a:off x="932688" y="1005840"/>
            <a:ext cx="108173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at the input/output layer, overflagging discipline, and stakeholder-grade metrics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611880" cy="4434840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664208"/>
            <a:ext cx="457200" cy="457200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12" name="Image 0" descr="/home/claude/work/icons/plu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73936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15568" y="1609344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Input/Output layer,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model internals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2286000"/>
            <a:ext cx="320954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it's the only option: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Enterprises consume a foundation model via API — GPT, Gemini, Claude, or an in-house model. There is no access to weights, attention maps, or logits to inspect.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3072384"/>
            <a:ext cx="320954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check instead: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prompt going in and the response coming out — the two points every enterprise actually controls, regardless of which model sits underneath.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3858768"/>
            <a:ext cx="320954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trade-off, named honestly: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can't cite an internal confidence score. We offset this with multiple independent external signals — segment tagging, tag-specific verification, retrieval grounding, human review — instead of one internal one.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4645152"/>
            <a:ext cx="320954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is a strength, not a workaround: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 Core AI for a different model tomorrow and the checker needs zero re-engineering — the boundary it watches never moves.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88536" y="1481328"/>
            <a:ext cx="3611880" cy="4434840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71416" y="1664208"/>
            <a:ext cx="457200" cy="457200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20" name="Image 1" descr="/home/claude/work/icons/ale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773936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038344" y="1609344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Overflagging — engineered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out, not just avoided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471416" y="2267712"/>
            <a:ext cx="3246120" cy="512064"/>
          </a:xfrm>
          <a:prstGeom prst="rect">
            <a:avLst/>
          </a:prstGeom>
          <a:solidFill>
            <a:srgbClr val="1F1235"/>
          </a:solidFill>
        </p:spPr>
      </p:sp>
      <p:sp>
        <p:nvSpPr>
          <p:cNvPr id="23" name="Text 19"/>
          <p:cNvSpPr txBox="1"/>
          <p:nvPr/>
        </p:nvSpPr>
        <p:spPr>
          <a:xfrm>
            <a:off x="4599432" y="2267712"/>
            <a:ext cx="29900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4.8%  </a:t>
            </a:r>
            <a:r>
              <a:rPr lang="en-US" sz="850" dirty="0">
                <a:solidFill>
                  <a:srgbClr val="D8D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 rate today — tuned, not accidental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4489704" y="2907792"/>
            <a:ext cx="3209544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 keep it low: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Checker verifies only the tags each segment's category actually carries (e.g. only Bias for a Recommendation) — not every dimension on every response — so scrutiny matches plausible risk instead of over-checking by default.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489704" y="3712464"/>
            <a:ext cx="3209544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Graded, not binary: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 / Edit / Reject means most confirmed risk is annotated inline (EDIT), not blocked — preserving flow instead of a hard stop that trains users to route around us.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489704" y="4517136"/>
            <a:ext cx="3209544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overflagging did creep in: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start overriding or ignoring warnings; the override-rate research already shows this pattern (74% under low transparency vs. 49% high) — the very trust gap ControlPlane exists to close would reopen.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4489704" y="5321808"/>
            <a:ext cx="3209544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Self-correcting over time: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reviewer override retrains classifier thresholds — a tag that fires too often gets tightened automatically, not just noted.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8211312" y="1481328"/>
            <a:ext cx="3611880" cy="4434840"/>
          </a:xfrm>
          <a:prstGeom prst="rect">
            <a:avLst/>
          </a:prstGeom>
          <a:solidFill>
            <a:srgbClr val="F5F0FC"/>
          </a:solidFill>
          <a:ln w="9525">
            <a:solidFill>
              <a:srgbClr val="D8D3E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94192" y="1664208"/>
            <a:ext cx="457200" cy="457200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30" name="Image 2" descr="/home/claude/work/icon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773936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61120" y="1609344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 that satisfy a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skeptical stakeholder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8412480" y="2286000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defined and measured: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 = flagged, but human reviewer approved as-is. False negative = shipped, but later found (via retrospective audit sampling) to carry hallucination, bias or a leak.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8412480" y="3236976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it's reported: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ops dashboard (FP/FN rate, override rate, volume, satisfaction) for engineers; a weekly trend summary for business stakeholders; a quarterly drift review asking whether thresholds still fit as models and regulation change.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8412480" y="4187952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pitch to a skeptic: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"trust us" — "audit us." Every verdict is reconstructable end-to-end: segment → tags checked → tags crossed → verdict, the same record the dashboard is built from.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8412480" y="5138928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that's the stronger claim: 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accuracy number can be cherry-picked; a reconstructable audit trail lets the stakeholder check our claim themselves, on any case they choose.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65760" y="6025896"/>
            <a:ext cx="11457432" cy="548640"/>
          </a:xfrm>
          <a:prstGeom prst="rect">
            <a:avLst/>
          </a:prstGeom>
          <a:solidFill>
            <a:srgbClr val="1F1235"/>
          </a:solidFill>
        </p:spPr>
      </p:sp>
      <p:pic>
        <p:nvPicPr>
          <p:cNvPr id="37" name="Image 3" descr="/home/claude/work/icons/fla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6172200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68680" y="6080760"/>
            <a:ext cx="107716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 </a:t>
            </a: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 of this depends on seeing inside the model — it depends on disciplined design at the boundary: scoped checks that don't over-flag, and an audit trail transparent enough for a skeptic to verify rather than take our word for it.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365760" y="6656832"/>
            <a:ext cx="114574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positive/negative figures are illustrative prototype-demonstration figures · Override-rate research from ControlPlane.ai Round 1 primary research (surveys, student &amp; employee interviews)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4033384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417320" cy="548640"/>
          </a:xfrm>
          <a:prstGeom prst="rect">
            <a:avLst/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920240" y="274320"/>
            <a:ext cx="9905695" cy="548640"/>
          </a:xfrm>
          <a:prstGeom prst="roundRect">
            <a:avLst>
              <a:gd name="adj" fmla="val 10000"/>
            </a:avLst>
          </a:prstGeom>
          <a:solidFill>
            <a:srgbClr val="EDE4FB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03120" y="274320"/>
            <a:ext cx="953993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working prototype to enterprise rollout — a phased implementation roadmap</a:t>
            </a:r>
            <a:endParaRPr lang="en-US" sz="1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mechanism is already built and demonstrated; what remains is sequencing adoption, not re-engineering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9144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" y="914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9601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roadmap — four phases from pilot to enterprise-wide governance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453896"/>
            <a:ext cx="2741600" cy="2331720"/>
          </a:xfrm>
          <a:prstGeom prst="roundRect">
            <a:avLst>
              <a:gd name="adj" fmla="val 2353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7960" y="1554480"/>
            <a:ext cx="457200" cy="457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2" name="Image 0" descr="/home/claude/work/icons/phase_found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830" y="1657350"/>
            <a:ext cx="251460" cy="2514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2057400"/>
            <a:ext cx="25587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 &amp; Alignment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340864"/>
            <a:ext cx="25587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1–4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30352" y="2569464"/>
            <a:ext cx="2448992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AI use cases &amp; risk appetite</a:t>
            </a:r>
            <a:endParaRPr lang="en-US" sz="88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Lock shared 6-tag taxonomy (legal + compliance)</a:t>
            </a:r>
            <a:endParaRPr lang="en-US" sz="88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 up audit-log &amp; review queue</a:t>
            </a:r>
            <a:endParaRPr lang="en-US" sz="88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529584"/>
            <a:ext cx="25587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Owner: AI Governance + Compliance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271952" y="1453896"/>
            <a:ext cx="2741600" cy="2331720"/>
          </a:xfrm>
          <a:prstGeom prst="roundRect">
            <a:avLst>
              <a:gd name="adj" fmla="val 2353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14152" y="1554480"/>
            <a:ext cx="457200" cy="457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9" name="Image 1" descr="/home/claude/work/icons/phase_pil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022" y="165735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363392" y="2057400"/>
            <a:ext cx="25587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Pilot — One Use Case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3363392" y="2340864"/>
            <a:ext cx="25587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5–10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3436544" y="2569464"/>
            <a:ext cx="2448992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checker on highest-risk workflow</a:t>
            </a:r>
            <a:endParaRPr lang="en-US" sz="88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Calibrate thresholds vs. reviewer verdicts</a:t>
            </a:r>
            <a:endParaRPr lang="en-US" sz="88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false positive / negative rates</a:t>
            </a:r>
            <a:endParaRPr lang="en-US" sz="880" dirty="0"/>
          </a:p>
        </p:txBody>
      </p:sp>
      <p:sp>
        <p:nvSpPr>
          <p:cNvPr id="23" name="Text 19"/>
          <p:cNvSpPr txBox="1"/>
          <p:nvPr/>
        </p:nvSpPr>
        <p:spPr>
          <a:xfrm>
            <a:off x="3363392" y="3529584"/>
            <a:ext cx="25587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Owner: AI Engineering + BU champion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6178144" y="1453896"/>
            <a:ext cx="2741600" cy="2331720"/>
          </a:xfrm>
          <a:prstGeom prst="roundRect">
            <a:avLst>
              <a:gd name="adj" fmla="val 2353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320344" y="1554480"/>
            <a:ext cx="457200" cy="457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26" name="Image 2" descr="/home/claude/work/icons/phase_sca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214" y="1657350"/>
            <a:ext cx="251460" cy="25146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269584" y="2057400"/>
            <a:ext cx="25587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Across Use Cases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6269584" y="2340864"/>
            <a:ext cx="25587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Months 3–5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6342736" y="2569464"/>
            <a:ext cx="2448992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to customer-facing &amp; internal copilots</a:t>
            </a:r>
            <a:endParaRPr lang="en-US" sz="88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Per-use-case policy configs; parallel checks</a:t>
            </a:r>
            <a:endParaRPr lang="en-US" sz="88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Activate feedback loop (overrides retrain)</a:t>
            </a:r>
            <a:endParaRPr lang="en-US" sz="880" dirty="0"/>
          </a:p>
        </p:txBody>
      </p:sp>
      <p:sp>
        <p:nvSpPr>
          <p:cNvPr id="30" name="Text 25"/>
          <p:cNvSpPr txBox="1"/>
          <p:nvPr/>
        </p:nvSpPr>
        <p:spPr>
          <a:xfrm>
            <a:off x="6269584" y="3529584"/>
            <a:ext cx="25587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Owner: Platform Engineering / MLOps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9084335" y="1453896"/>
            <a:ext cx="2741600" cy="2331720"/>
          </a:xfrm>
          <a:prstGeom prst="roundRect">
            <a:avLst>
              <a:gd name="adj" fmla="val 2353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0226535" y="1554480"/>
            <a:ext cx="457200" cy="457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33" name="Image 3" descr="/home/claude/work/icons/phase_enterpri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9405" y="1657350"/>
            <a:ext cx="251460" cy="25146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175775" y="2057400"/>
            <a:ext cx="25587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Enterprise-wide Governance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9175775" y="2340864"/>
            <a:ext cx="25587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6+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9248927" y="2569464"/>
            <a:ext cx="2448992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metrics dashboard, rolled out org-wide</a:t>
            </a:r>
            <a:endParaRPr lang="en-US" sz="88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Router extended to agentic flows</a:t>
            </a:r>
            <a:endParaRPr lang="en-US" sz="88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continuous audit &amp; reporting</a:t>
            </a:r>
            <a:endParaRPr lang="en-US" sz="880" dirty="0"/>
          </a:p>
        </p:txBody>
      </p:sp>
      <p:sp>
        <p:nvSpPr>
          <p:cNvPr id="37" name="Text 31"/>
          <p:cNvSpPr txBox="1"/>
          <p:nvPr/>
        </p:nvSpPr>
        <p:spPr>
          <a:xfrm>
            <a:off x="9175775" y="3529584"/>
            <a:ext cx="25587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Owner: Enterprise Risk &amp; AI CoE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3079928" y="2299716"/>
            <a:ext cx="2194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21B6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5986120" y="2299716"/>
            <a:ext cx="2194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21B6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8892311" y="2299716"/>
            <a:ext cx="2194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21B6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5"/>
          <p:cNvSpPr/>
          <p:nvPr/>
        </p:nvSpPr>
        <p:spPr>
          <a:xfrm>
            <a:off x="365760" y="3922776"/>
            <a:ext cx="11460175" cy="365760"/>
          </a:xfrm>
          <a:prstGeom prst="rect">
            <a:avLst/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84048" y="38770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384048" y="3877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Text 38"/>
          <p:cNvSpPr txBox="1"/>
          <p:nvPr/>
        </p:nvSpPr>
        <p:spPr>
          <a:xfrm>
            <a:off x="987552" y="3922776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Prioritized recommendations — what to do first, next, and later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365760" y="4407408"/>
            <a:ext cx="3710330" cy="1097280"/>
          </a:xfrm>
          <a:prstGeom prst="roundRect">
            <a:avLst>
              <a:gd name="adj" fmla="val 5000"/>
            </a:avLst>
          </a:prstGeom>
          <a:solidFill>
            <a:srgbClr val="5B21B6"/>
          </a:solidFill>
          <a:ln w="15875">
            <a:solidFill>
              <a:srgbClr val="5B21B6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512064" y="4535424"/>
            <a:ext cx="310896" cy="310896"/>
          </a:xfrm>
          <a:prstGeom prst="ellipse">
            <a:avLst/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pic>
        <p:nvPicPr>
          <p:cNvPr id="47" name="Image 4" descr="/home/claude/work/icons/p0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4599432"/>
            <a:ext cx="182880" cy="18288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896112" y="4517136"/>
            <a:ext cx="307025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P0 — DO NOW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548640" y="4864608"/>
            <a:ext cx="334457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Pilot the regulated decision-support workflow first — smallest blast radius, clearest ROI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Lock the shared 6-tag taxonomy with legal &amp; compliance before writing detection code</a:t>
            </a:r>
            <a:endParaRPr lang="en-US" sz="930" dirty="0"/>
          </a:p>
        </p:txBody>
      </p:sp>
      <p:sp>
        <p:nvSpPr>
          <p:cNvPr id="50" name="Shape 43"/>
          <p:cNvSpPr/>
          <p:nvPr/>
        </p:nvSpPr>
        <p:spPr>
          <a:xfrm>
            <a:off x="4240682" y="4407408"/>
            <a:ext cx="3710330" cy="1097280"/>
          </a:xfrm>
          <a:prstGeom prst="roundRect">
            <a:avLst>
              <a:gd name="adj" fmla="val 5000"/>
            </a:avLst>
          </a:prstGeom>
          <a:solidFill>
            <a:srgbClr val="FDF6EC"/>
          </a:solidFill>
          <a:ln w="15875">
            <a:solidFill>
              <a:srgbClr val="F0DCB8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4386986" y="4535424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2" name="Image 5" descr="/home/claude/work/icons/p1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0994" y="4599432"/>
            <a:ext cx="182880" cy="182880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4771034" y="4517136"/>
            <a:ext cx="307025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P1 — NEXT 2 QUARTERS</a:t>
            </a:r>
            <a:endParaRPr lang="en-US" sz="1100" dirty="0"/>
          </a:p>
        </p:txBody>
      </p:sp>
      <p:sp>
        <p:nvSpPr>
          <p:cNvPr id="54" name="Text 46"/>
          <p:cNvSpPr txBox="1"/>
          <p:nvPr/>
        </p:nvSpPr>
        <p:spPr>
          <a:xfrm>
            <a:off x="4423562" y="4864608"/>
            <a:ext cx="334457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the feedback loop so every human override retrains thresholds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Instrument per-use-case latency budgets before real-time customer channels</a:t>
            </a:r>
            <a:endParaRPr lang="en-US" sz="930" dirty="0"/>
          </a:p>
        </p:txBody>
      </p:sp>
      <p:sp>
        <p:nvSpPr>
          <p:cNvPr id="55" name="Shape 47"/>
          <p:cNvSpPr/>
          <p:nvPr/>
        </p:nvSpPr>
        <p:spPr>
          <a:xfrm>
            <a:off x="8115605" y="4407408"/>
            <a:ext cx="3710330" cy="1097280"/>
          </a:xfrm>
          <a:prstGeom prst="roundRect">
            <a:avLst>
              <a:gd name="adj" fmla="val 5000"/>
            </a:avLst>
          </a:prstGeom>
          <a:solidFill>
            <a:srgbClr val="F5F0FC"/>
          </a:solidFill>
          <a:ln w="15875">
            <a:solidFill>
              <a:srgbClr val="D8D3E0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8261909" y="4535424"/>
            <a:ext cx="310896" cy="31089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57" name="Image 6" descr="/home/claude/work/icons/p2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5917" y="4599432"/>
            <a:ext cx="182880" cy="182880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8645957" y="4517136"/>
            <a:ext cx="307025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P2 — 6–12 MONTHS (STRATEGIC)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8298485" y="4864608"/>
            <a:ext cx="334457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the Decision Router to multi-turn &amp; agentic workflows where risk compounds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the live dashboard into a board-level trust metric, not just an ops tool</a:t>
            </a:r>
            <a:endParaRPr lang="en-US" sz="930" dirty="0"/>
          </a:p>
        </p:txBody>
      </p:sp>
      <p:sp>
        <p:nvSpPr>
          <p:cNvPr id="60" name="Shape 51"/>
          <p:cNvSpPr/>
          <p:nvPr/>
        </p:nvSpPr>
        <p:spPr>
          <a:xfrm>
            <a:off x="365760" y="5641848"/>
            <a:ext cx="11460175" cy="502920"/>
          </a:xfrm>
          <a:prstGeom prst="rect">
            <a:avLst/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pic>
        <p:nvPicPr>
          <p:cNvPr id="61" name="Image 7" descr="/home/claude/work/icons/flag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" y="5747004"/>
            <a:ext cx="292608" cy="292608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960120" y="5696712"/>
            <a:ext cx="10637215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Sequencing beats scope: 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prove the mechanism on one high-risk workflow, let real overrides tune the thresholds, then extend the same core — unchanged — to every other use case.</a:t>
            </a:r>
            <a:endParaRPr lang="en-US" sz="1100" dirty="0"/>
          </a:p>
        </p:txBody>
      </p:sp>
      <p:sp>
        <p:nvSpPr>
          <p:cNvPr id="63" name="Text 53"/>
          <p:cNvSpPr txBox="1"/>
          <p:nvPr/>
        </p:nvSpPr>
        <p:spPr>
          <a:xfrm>
            <a:off x="365760" y="6236208"/>
            <a:ext cx="1146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Illustrative phased rollout for prototype demonstration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85648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417320" cy="548640"/>
          </a:xfrm>
          <a:prstGeom prst="rect">
            <a:avLst/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7432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920240" y="274320"/>
            <a:ext cx="9905695" cy="548640"/>
          </a:xfrm>
          <a:prstGeom prst="roundRect">
            <a:avLst>
              <a:gd name="adj" fmla="val 10000"/>
            </a:avLst>
          </a:prstGeom>
          <a:solidFill>
            <a:srgbClr val="EDE4FB"/>
          </a:solidFill>
          <a:ln w="12700">
            <a:solidFill>
              <a:srgbClr val="EDE4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03120" y="274320"/>
            <a:ext cx="953993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to prove itself — expected outcomes, managed risk, and a defensible edge</a:t>
            </a:r>
            <a:endParaRPr lang="en-US" sz="1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audit data that powers the dashboard also sets the targets, names the risks, and proves the differentiation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60175" cy="365760"/>
          </a:xfrm>
          <a:prstGeom prst="rect">
            <a:avLst/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9144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" y="914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9601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&amp; expected outcomes — from prototype baseline to production targets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453896"/>
            <a:ext cx="2741600" cy="1234440"/>
          </a:xfrm>
          <a:prstGeom prst="roundRect">
            <a:avLst>
              <a:gd name="adj" fmla="val 4444"/>
            </a:avLst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pic>
        <p:nvPicPr>
          <p:cNvPr id="11" name="Image 0" descr="/home/claude/work/icons/trenddow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84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30352" y="1892808"/>
            <a:ext cx="241241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4.8% → &lt;3%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" y="2258568"/>
            <a:ext cx="241241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 rate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" y="2441448"/>
            <a:ext cx="241241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D8D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unnecessary escalations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71952" y="1453896"/>
            <a:ext cx="2741600" cy="1234440"/>
          </a:xfrm>
          <a:prstGeom prst="roundRect">
            <a:avLst>
              <a:gd name="adj" fmla="val 4444"/>
            </a:avLst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pic>
        <p:nvPicPr>
          <p:cNvPr id="16" name="Image 1" descr="/home/claude/work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832" y="161848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436544" y="1892808"/>
            <a:ext cx="241241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1.3% → &lt;0.5%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3436544" y="2258568"/>
            <a:ext cx="241241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negative rate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3436544" y="2441448"/>
            <a:ext cx="241241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D8D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near-zero undetected risk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178144" y="1453896"/>
            <a:ext cx="2741600" cy="1234440"/>
          </a:xfrm>
          <a:prstGeom prst="roundRect">
            <a:avLst>
              <a:gd name="adj" fmla="val 4444"/>
            </a:avLst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pic>
        <p:nvPicPr>
          <p:cNvPr id="21" name="Image 2" descr="/home/claude/work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024" y="161848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42736" y="1892808"/>
            <a:ext cx="241241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−30%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342736" y="2258568"/>
            <a:ext cx="241241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review load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6342736" y="2441448"/>
            <a:ext cx="241241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D8D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feedback-tuned thresholds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084335" y="1453896"/>
            <a:ext cx="2741600" cy="1234440"/>
          </a:xfrm>
          <a:prstGeom prst="roundRect">
            <a:avLst>
              <a:gd name="adj" fmla="val 4444"/>
            </a:avLst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pic>
        <p:nvPicPr>
          <p:cNvPr id="26" name="Image 3" descr="/home/claude/work/icons/trend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7215" y="1618488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48927" y="1892808"/>
            <a:ext cx="241241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248927" y="2258568"/>
            <a:ext cx="241241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Pre-response coverage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248927" y="2441448"/>
            <a:ext cx="241241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D8D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regulated flows checked before ship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365760" y="2825496"/>
            <a:ext cx="11460175" cy="365760"/>
          </a:xfrm>
          <a:prstGeom prst="rect">
            <a:avLst/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84048" y="277977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384048" y="27797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987552" y="2825496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management &amp; why ControlPlane.ai wins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365760" y="3319272"/>
            <a:ext cx="6704202" cy="2148840"/>
          </a:xfrm>
          <a:prstGeom prst="roundRect">
            <a:avLst>
              <a:gd name="adj" fmla="val 2128"/>
            </a:avLst>
          </a:prstGeom>
          <a:solidFill>
            <a:srgbClr val="F5F0FC"/>
          </a:solidFill>
          <a:ln w="12700">
            <a:solidFill>
              <a:srgbClr val="D8D3E0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30352" y="3410712"/>
            <a:ext cx="308393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3717861" y="3410712"/>
            <a:ext cx="3218017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MITIGATION — ALREADY IN THE PIPELINE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502920" y="3685032"/>
            <a:ext cx="6429882" cy="0"/>
          </a:xfrm>
          <a:prstGeom prst="line">
            <a:avLst/>
          </a:prstGeom>
          <a:noFill/>
          <a:ln w="12700">
            <a:solidFill>
              <a:srgbClr val="D8D3E0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30352" y="3703320"/>
            <a:ext cx="3083933" cy="3863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Over-flagging drives alert fatigue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3717861" y="3703320"/>
            <a:ext cx="3218017" cy="3863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Tiered Escalate / Edit / Reject, tuned by the feedback loop — not static rules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02920" y="4126230"/>
            <a:ext cx="6429882" cy="0"/>
          </a:xfrm>
          <a:prstGeom prst="line">
            <a:avLst/>
          </a:prstGeom>
          <a:noFill/>
          <a:ln w="9525">
            <a:solidFill>
              <a:srgbClr val="D8D3E0"/>
            </a:solidFill>
            <a:prstDash val="sysDot"/>
          </a:ln>
        </p:spPr>
      </p:sp>
      <p:sp>
        <p:nvSpPr>
          <p:cNvPr id="41" name="Text 35"/>
          <p:cNvSpPr txBox="1"/>
          <p:nvPr/>
        </p:nvSpPr>
        <p:spPr>
          <a:xfrm>
            <a:off x="530352" y="4144518"/>
            <a:ext cx="3083933" cy="3863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reliable real-time ground truth to verify claims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3717861" y="4144518"/>
            <a:ext cx="3218017" cy="3863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 verification against source docs + explicit uncertainty tagging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502920" y="4567428"/>
            <a:ext cx="6429882" cy="0"/>
          </a:xfrm>
          <a:prstGeom prst="line">
            <a:avLst/>
          </a:prstGeom>
          <a:noFill/>
          <a:ln w="9525">
            <a:solidFill>
              <a:srgbClr val="D8D3E0"/>
            </a:solidFill>
            <a:prstDash val="sysDot"/>
          </a:ln>
        </p:spPr>
      </p:sp>
      <p:sp>
        <p:nvSpPr>
          <p:cNvPr id="44" name="Text 38"/>
          <p:cNvSpPr txBox="1"/>
          <p:nvPr/>
        </p:nvSpPr>
        <p:spPr>
          <a:xfrm>
            <a:off x="530352" y="4585716"/>
            <a:ext cx="3083933" cy="3863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Regulation varies by geography / industry and keeps evolving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3717861" y="4585716"/>
            <a:ext cx="3218017" cy="3863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Configurable, versioned policy layer per use case &amp; geography, fully audit-logged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502920" y="5008626"/>
            <a:ext cx="6429882" cy="0"/>
          </a:xfrm>
          <a:prstGeom prst="line">
            <a:avLst/>
          </a:prstGeom>
          <a:noFill/>
          <a:ln w="9525">
            <a:solidFill>
              <a:srgbClr val="D8D3E0"/>
            </a:solidFill>
            <a:prstDash val="sysDot"/>
          </a:ln>
        </p:spPr>
      </p:sp>
      <p:sp>
        <p:nvSpPr>
          <p:cNvPr id="47" name="Text 41"/>
          <p:cNvSpPr txBox="1"/>
          <p:nvPr/>
        </p:nvSpPr>
        <p:spPr>
          <a:xfrm>
            <a:off x="530352" y="5026914"/>
            <a:ext cx="3083933" cy="3863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Latency budget breach when scaling to real-time channels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3717861" y="5026914"/>
            <a:ext cx="3218017" cy="3863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Scoped, parallelized checks — only the tags a segment carries; async post-hoc audit elsewhere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7252842" y="3319272"/>
            <a:ext cx="4573093" cy="2148840"/>
          </a:xfrm>
          <a:prstGeom prst="roundRect">
            <a:avLst>
              <a:gd name="adj" fmla="val 2128"/>
            </a:avLst>
          </a:prstGeom>
          <a:solidFill>
            <a:srgbClr val="FDF6EC"/>
          </a:solidFill>
          <a:ln w="15875">
            <a:solidFill>
              <a:srgbClr val="F0DCB8"/>
            </a:solidFill>
            <a:prstDash val="solid"/>
          </a:ln>
        </p:spPr>
      </p:sp>
      <p:pic>
        <p:nvPicPr>
          <p:cNvPr id="50" name="Image 4" descr="/home/claude/work/icons/trophy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146" y="3447288"/>
            <a:ext cx="237744" cy="237744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7710042" y="3410712"/>
            <a:ext cx="3978733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CONTROLPLANE.AI</a:t>
            </a:r>
            <a:endParaRPr lang="en-US" sz="1050" dirty="0"/>
          </a:p>
        </p:txBody>
      </p:sp>
      <p:sp>
        <p:nvSpPr>
          <p:cNvPr id="52" name="Text 45"/>
          <p:cNvSpPr txBox="1"/>
          <p:nvPr/>
        </p:nvSpPr>
        <p:spPr>
          <a:xfrm>
            <a:off x="7435722" y="3776472"/>
            <a:ext cx="4207333" cy="1581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500"/>
              </a:spcAft>
              <a:buSzPct val="100000"/>
              <a:buNone/>
            </a:pPr>
            <a:r>
              <a:rPr lang="en-US" sz="9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vs. point solutions: </a:t>
            </a:r>
            <a:r>
              <a:rPr lang="en-US" sz="9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two-layer pipeline covers bias, hallucination and privacy — not three stitched-together vendors</a:t>
            </a:r>
            <a:endParaRPr lang="en-US" sz="900" dirty="0"/>
          </a:p>
          <a:p>
            <a:pPr marL="0" indent="0">
              <a:lnSpc>
                <a:spcPct val="112000"/>
              </a:lnSpc>
              <a:spcAft>
                <a:spcPts val="500"/>
              </a:spcAft>
              <a:buSzPct val="100000"/>
              <a:buNone/>
            </a:pPr>
            <a:r>
              <a:rPr lang="en-US" sz="9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vs. static guardrails: </a:t>
            </a:r>
            <a:r>
              <a:rPr lang="en-US" sz="9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thresholds retrain from real reviewer overrides, so rules age with the model and regulation, not against them</a:t>
            </a:r>
            <a:endParaRPr lang="en-US" sz="900" dirty="0"/>
          </a:p>
          <a:p>
            <a:pPr marL="0" indent="0">
              <a:lnSpc>
                <a:spcPct val="112000"/>
              </a:lnSpc>
              <a:spcAft>
                <a:spcPts val="500"/>
              </a:spcAft>
              <a:buSzPct val="100000"/>
              <a:buNone/>
            </a:pPr>
            <a:r>
              <a:rPr lang="en-US" sz="9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vs. black-box filters: </a:t>
            </a:r>
            <a:r>
              <a:rPr lang="en-US" sz="9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at the input/output layer — model-agnostic for enterprises that consume AI via API</a:t>
            </a:r>
            <a:endParaRPr lang="en-US" sz="900" dirty="0"/>
          </a:p>
          <a:p>
            <a:pPr marL="0" indent="0">
              <a:lnSpc>
                <a:spcPct val="112000"/>
              </a:lnSpc>
              <a:spcAft>
                <a:spcPts val="500"/>
              </a:spcAft>
              <a:buSzPct val="100000"/>
              <a:buNone/>
            </a:pPr>
            <a:r>
              <a:rPr lang="en-US" sz="9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vs. manual-only review: </a:t>
            </a:r>
            <a:r>
              <a:rPr lang="en-US" sz="900" dirty="0">
                <a:solidFill>
                  <a:srgbClr val="1F12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scales to tens of thousands of interactions/week; humans touch only ambiguous EDIT-tier cases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365760" y="5605272"/>
            <a:ext cx="11460175" cy="502920"/>
          </a:xfrm>
          <a:prstGeom prst="rect">
            <a:avLst/>
          </a:prstGeom>
          <a:solidFill>
            <a:srgbClr val="1F1235"/>
          </a:solidFill>
          <a:ln w="12700">
            <a:solidFill>
              <a:srgbClr val="1F1235"/>
            </a:solidFill>
            <a:prstDash val="solid"/>
          </a:ln>
        </p:spPr>
      </p:sp>
      <p:pic>
        <p:nvPicPr>
          <p:cNvPr id="54" name="Image 5" descr="/home/claude/work/icons/fla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5710428"/>
            <a:ext cx="292608" cy="292608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960120" y="5660136"/>
            <a:ext cx="10637215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prototype is the mitigation, not a promise: 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risk above already has a named control engineered into the pipeline demonstrated in Slides 1–3.</a:t>
            </a:r>
            <a:endParaRPr lang="en-US" sz="1100" dirty="0"/>
          </a:p>
        </p:txBody>
      </p:sp>
      <p:sp>
        <p:nvSpPr>
          <p:cNvPr id="56" name="Text 48"/>
          <p:cNvSpPr txBox="1"/>
          <p:nvPr/>
        </p:nvSpPr>
        <p:spPr>
          <a:xfrm>
            <a:off x="365760" y="6199632"/>
            <a:ext cx="1146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Illustrative targets for prototype demonstration; baseline figures per dashboard shown on Slide 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02847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Team details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</cp:revision>
  <dcterms:created xsi:type="dcterms:W3CDTF">2026-08-30T17:24:37Z</dcterms:created>
  <dcterms:modified xsi:type="dcterms:W3CDTF">2026-08-30T17:38:32Z</dcterms:modified>
</cp:coreProperties>
</file>